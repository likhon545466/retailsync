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143000"/>
            <a:ext cx="4389120" cy="3657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284C7"/>
                </a:solidFill>
                <a:latin typeface="Calibri"/>
              </a:defRPr>
            </a:pPr>
            <a:r>
              <a:t>SE 231  ·  PROJECT PROPOSAL DEFENSE</a:t>
            </a:r>
          </a:p>
        </p:txBody>
      </p:sp>
      <p:pic>
        <p:nvPicPr>
          <p:cNvPr id="4" name="Picture 3" descr="retailsyn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05156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1691640"/>
            <a:ext cx="9326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RetailSync: Centralized Super Shop Warehouse Management System</a:t>
            </a:r>
          </a:p>
          <a:p>
            <a:pPr>
              <a:spcBef>
                <a:spcPts val="800"/>
              </a:spcBef>
              <a:defRPr sz="1500">
                <a:solidFill>
                  <a:srgbClr val="475569"/>
                </a:solidFill>
                <a:latin typeface="Calibri"/>
              </a:defRPr>
            </a:pPr>
            <a:r>
              <a:t>Sub-2.0s Transactional FEFO Allocation, Multi-Till Concurrency Control &amp; Stochastic Replenishment for Bangladesh Retail Chains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246120"/>
            <a:ext cx="978408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9784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PROJECT TEAM (SECTION SWE-44D):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Calibri"/>
              </a:defRPr>
            </a:pPr>
            <a:r>
              <a:t>1. Raisul Islam Likhon (Lead: 251-35-508)   ·   2. Shottobroto Dey (251-35-017)   ·   3. Golam Husnain Papon (251-35-529)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Calibri"/>
              </a:defRPr>
            </a:pPr>
            <a:r>
              <a:t>System Analysis &amp; Design Capstone Project 2  ·  Supervised by Department Faculty</a:t>
            </a:r>
          </a:p>
          <a:p>
            <a:pPr>
              <a:spcBef>
                <a:spcPts val="400"/>
              </a:spcBef>
              <a:defRPr sz="1200" b="1">
                <a:solidFill>
                  <a:srgbClr val="475569"/>
                </a:solidFill>
                <a:latin typeface="Calibri"/>
              </a:defRPr>
            </a:pPr>
            <a:r>
              <a:t>Department of Software Engineering  ·  Faculty of Science &amp; Information Technology  ·  Daffodil International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INDUSTRY CHALLENGES &amp; OPERATIONAL BOTTLENECKS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The Problem: 3 Critical Profit Leaks in Retail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2/10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88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Phantom Stockouts &amp; Mismatches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Cashiers scan items missing from shelves while excess stock sits unrecorded in backrooms. Inventory discrepancy between billing registers and physical warehouse bins reaches 8% to 14% daily.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206240"/>
            <a:ext cx="2880360" cy="320040"/>
          </a:xfrm>
          <a:prstGeom prst="roundRect">
            <a:avLst/>
          </a:prstGeom>
          <a:solidFill>
            <a:srgbClr val="FEE2E2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EF4444"/>
                </a:solidFill>
                <a:latin typeface="Consolas"/>
              </a:defRPr>
            </a:pPr>
            <a:r>
              <a:t>8–14% Stock Mismatch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41732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600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1488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Perishable Expiry Waste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Without batch-specific expiry tracking, clerks sell newer stock first. Over 18% of fresh dairy, staples, and bakery goods expire unnoticed on shelves, violating Bangladesh Food Safety Act 2013 standards.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4206240"/>
            <a:ext cx="2880360" cy="320040"/>
          </a:xfrm>
          <a:prstGeom prst="roundRect">
            <a:avLst/>
          </a:prstGeom>
          <a:solidFill>
            <a:srgbClr val="FEF3C7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59E0B"/>
                </a:solidFill>
                <a:latin typeface="Consolas"/>
              </a:defRPr>
            </a:pPr>
            <a:r>
              <a:t>18% Expiry Shrinkage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417320"/>
            <a:ext cx="34290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600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6366F1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1488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Multi-Till Race Conditions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During peak evening rush hours (5 PM–9 PM), multiple tills scan the last remaining units simultaneously. Disconnected POS tools cause duplicate sales, negative stock, and stockout disputes.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4206240"/>
            <a:ext cx="2880360" cy="320040"/>
          </a:xfrm>
          <a:prstGeom prst="roundRect">
            <a:avLst/>
          </a:prstGeom>
          <a:solidFill>
            <a:srgbClr val="E0F2FE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6366F1"/>
                </a:solidFill>
                <a:latin typeface="Consolas"/>
              </a:defRPr>
            </a:pPr>
            <a:r>
              <a:t>Sub-2.0s Race Collisions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20"/>
            <a:ext cx="10728655" cy="13258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56048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THE CORE MARKET GAP IN BANGLADESH:</a:t>
            </a:r>
          </a:p>
          <a:p>
            <a:pPr>
              <a:spcBef>
                <a:spcPts val="200"/>
              </a:spcBef>
              <a:defRPr sz="1200">
                <a:solidFill>
                  <a:srgbClr val="0F172A"/>
                </a:solidFill>
                <a:latin typeface="Calibri"/>
              </a:defRPr>
            </a:pPr>
            <a:r>
              <a:t>Global enterprise ERPs (SAP, NetSuite) cost millions in licensing and are too complex for local chains; generic desktop POS apps lack warehouse batch-level expiry traceability. RetailSync bridges this gap with an affordable, high-speed, and production-tested transactional architecture.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END-TO-END OPERATIONAL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The RetailSync Engine: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3/10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25880" y="1691640"/>
            <a:ext cx="777240" cy="777240"/>
          </a:xfrm>
          <a:prstGeom prst="ellipse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Dock Inbound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Clerk scans PO; 65% quality gate verifies batch shelf-life before GRN receipt.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16935" y="146304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11295" y="1691640"/>
            <a:ext cx="777240" cy="777240"/>
          </a:xfrm>
          <a:prstGeom prst="ellipse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5" y="265176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Directed Putaway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Engine calculates shortest Manhattan distance and assigns optimal thermal bay (A01–D01).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02351" y="146304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96712" y="1691640"/>
            <a:ext cx="777240" cy="7772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265176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Real-Time Sync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PostgreSQL 16 3NF schema synchronizes stock across warehouse racks and store tills.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7" y="146304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82127" y="1691640"/>
            <a:ext cx="777240" cy="77724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265176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FEFO Checkout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Cashier scans item; atomic row locks deduct earliest-expiring batch in &lt; 2.0s.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73184" y="146304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67544" y="1691640"/>
            <a:ext cx="777240" cy="777240"/>
          </a:xfrm>
          <a:prstGeom prst="ellipse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0344" y="265176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DSS Reorder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Greasley safety stock models lead-time variance and triggers optimal Wilson EOQ replenishment.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166360"/>
            <a:ext cx="10728655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25780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OPERATIONAL CONTINUITY &amp; COMPLIANCE (FIGURE 2 FLOW):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Transactions execute atomically without manual guesswork. The system guarantees that older inventory is liquidated first (FEFO), preventing expired items from ever reaching customers.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WAREHOUSE OPERATIONS &amp; CHECKOUT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Core Modules: Inbound Dock &amp; Frontline POS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4/10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00200"/>
            <a:ext cx="4617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284C7"/>
                </a:solidFill>
                <a:latin typeface="Calibri"/>
              </a:defRPr>
            </a:pPr>
            <a:r>
              <a:t>Inbound Dock &amp; Directed Putaway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Digital PO Receiving Inspection: Matches delivery against purchase orders with instant Goods Receipt Note (GRN) issuance.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65% Residual Shelf-Life Gate: Automatically computes (Expiry - Recv) / (Expiry - Mfd); batches below 65% are quarantined.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Directed Thermal Putaway: Compatible slotting across Ambient (A01-B01), Cold 4°C (C01), and Frozen -18°C (D01) bays.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Shortest-Path Manhattan Routing: Calculates operator walking travel (|ΔX| + |ΔY|) to minimize floor cycle times.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193792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46451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Calibri"/>
              </a:defRPr>
            </a:pPr>
            <a:r>
              <a:t>Frontline POS &amp; Concurrency Locking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Sub-2.0s Transactional Checkout: Rapid barcode scanning with Web Audio synthesizer beep and quick cash tender chips.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Automatic FEFO Deduction: Engine selects the earliest-expiring batch automatically; cashiers never inspect expiry labels.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Row-Level Lock (SELECT FOR UPDATE SKIP LOCKED): Atomically locks batch rows, eliminating rush-hour double allocation.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ACID Guarantees &amp; Thermal Receipts: Failed tenders release locks immediately; successful sales emit formatted receipts.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SPATIAL HEATMAP &amp; STOCHASTIC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Core Modules: Digital Twin &amp; Replenishment DSS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5/10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00200"/>
            <a:ext cx="4617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366F1"/>
                </a:solidFill>
                <a:latin typeface="Calibri"/>
              </a:defRPr>
            </a:pPr>
            <a:r>
              <a:t>2D Spatial Digital Twin Warehouse Map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Live 2D Bay Matrix: Visual representation of warehouse aisles (A01–D01) with real-time occupancy percentages.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Thermal Zone Monitoring: Distinct sensors for Ambient (22°C), Chilled (4°C), and Frozen (-18°C) storage bays.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FEFO Expiry Heatmap: Color-coded bin status—Green (Normal), Red (Critical Expiry &lt; 7 Days), Slate (Empty).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Interactive Bin Drawer: Click any rack cell to inspect batch lot number, residual shelf-life, and exact SKU unit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193792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46451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284C7"/>
                </a:solidFill>
                <a:latin typeface="Calibri"/>
              </a:defRPr>
            </a:pPr>
            <a:r>
              <a:t>Algorithmic Replenishment DSS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Greasley Stochastic Safety Stock: SS = Z × sqrt(L·σd² + d²·σL²) modeling demand swings and distributor transit delays.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Wilson Economic Order Quantity (EOQ): EOQ = sqrt(2·D·S / H) mathematically minimizing holding and ordering costs.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Dynamic Reorder Point (ROP = d·L + SS): Generates 1-click Purchase Orders before stockouts occur on retail shelves.</a:t>
            </a:r>
          </a:p>
          <a:p>
            <a:pPr>
              <a:spcBef>
                <a:spcPts val="6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Surge Scenario Presets: One-click stress simulation for Normal (1.0x), Friday Rush (1.4x), and Ramadan Surge (2.5x).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4-TIER CYBER-PHYSICAL ARCHITECTURE (FIGURE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System Architecture &amp;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6/10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68580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e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54480"/>
            <a:ext cx="65836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417320"/>
            <a:ext cx="36877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554480"/>
            <a:ext cx="33192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4-TIER ARCHITECTURE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1. Presentation Tier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Calm Mission Studio UI, POS Terminal, 2D Floorplan, Keyboard Shortcuts (P, I, U, W, R, L, T).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2. Gateway &amp; Security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FastAPI middleware, JWT authentication, Role-Based Access Control (Cashier, Clerk, Operator, Manager).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3. Domain Services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FEFO allocation worker, Manhattan router, Greasley replenishment DSS engine, Stock Ledger.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4. Persistence Tier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PostgreSQL 16 strict 3NF schema, row-level locking (SKIP LOCKED), tamper-proof audit trail.</a:t>
            </a:r>
          </a:p>
          <a:p>
            <a:br/>
            <a:pPr>
              <a:defRPr sz="950" b="1">
                <a:solidFill>
                  <a:srgbClr val="0284C7"/>
                </a:solidFill>
                <a:latin typeface="Consolas"/>
              </a:defRPr>
            </a:pPr>
            <a:r>
              <a:t>TECH STACK: FastAPI · Python 3.14 · PostgreSQL 16 · SQLAlchemy · Docker · Git · Linux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14-WEEK AGILE ROADMAP &amp; MEMBER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Timeline &amp; Team Work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7/10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709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14-WEEK AGILE SCRUM SCHEDULE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[W1–W2]  Sprint 1: Inception, PRD &amp; Requirements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[W3–W4]  Sprint 2: 3NF Database Normalization &amp; Modeling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[W5–W6]  Sprint 3: Dock Inbound &amp; 65% Quality Gate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[W7–W8]  Sprint 4: Directed Putaway &amp; 2D Floorplan Map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[W9–W10]  Sprint 5: POS Register &amp; Concurrency Row-Locking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[W11–W12]  Sprint 6: Greasley Replenishment DSS &amp; Ledger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[W13–W14]  Sprint 7: End-to-End Testing &amp; Capstone Defense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193792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736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TEAM RESPONSIBILITY MATRIX</a:t>
            </a:r>
          </a:p>
          <a:p>
            <a:pPr>
              <a:spcBef>
                <a:spcPts val="6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Raisul Islam Likhon (Lead: 251-35-508)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System Architecture, FastAPI Backend, PostgreSQL 3NF Schema &amp; Row-Locks, FEFO Engine, CI/CD Pipeline.</a:t>
            </a:r>
          </a:p>
          <a:p>
            <a:pPr>
              <a:spcBef>
                <a:spcPts val="6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Shottobroto Dey (251-35-017)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Replenishment DSS Engine, Greasley Safety Stock Algorithm, Wilson EOQ Optimization, API Contracts &amp; Unit Testing.</a:t>
            </a:r>
          </a:p>
          <a:p>
            <a:pPr>
              <a:spcBef>
                <a:spcPts val="6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Golam Husnain Papon (251-35-529)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Calm Mission Studio UI Design, 2D Floorplan Heatmap, POS Frontline Screen, Receiving Quality Gate UI, Responsive Layouts.</a:t>
            </a:r>
          </a:p>
          <a:p>
            <a:br/>
            <a:pPr>
              <a:defRPr sz="1000" b="1">
                <a:solidFill>
                  <a:srgbClr val="0284C7"/>
                </a:solidFill>
                <a:latin typeface="Calibri"/>
              </a:defRPr>
            </a:pPr>
            <a:r>
              <a:t>SHARED: Requirements analysis, ERD design, integration testing &amp; report.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ENGINEERING RISK MANAGEMENT &amp; FUTURE-PROOF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Risk Assessment, Safeguards &amp; Future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8/10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93792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736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  <a:latin typeface="Calibri"/>
              </a:defRPr>
            </a:pPr>
            <a:r>
              <a:t>OPERATIONAL &amp; CONCURRENCY SAFEGUARDS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  <a:latin typeface="Calibri"/>
              </a:defRPr>
            </a:pPr>
            <a:r>
              <a:t>⚠  Multi-Till Rush-Hour Race Conditions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Risk: Simultaneous checkout at 5+ tills causes overselling and double-allocation of the same lot.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✓ Solution &amp; Future Safeguard: PostgreSQL row-level locks (SELECT FOR UPDATE SKIP LOCKED) ensure atomic batch deduction in &lt;2.0s. Future: Distributed Redis locking for cluster scale.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  <a:latin typeface="Calibri"/>
              </a:defRPr>
            </a:pPr>
            <a:r>
              <a:t>⚠  Intermittent Network Outages at Checkout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Risk: Local ISP or Wi-Fi drops disconnect cash registers from the central database.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✓ Solution &amp; Future Safeguard: Client-side offline transaction buffer with automatic sync queue upon reconnect. Future: PWA offline-first service worker architecture.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  <a:latin typeface="Calibri"/>
              </a:defRPr>
            </a:pPr>
            <a:r>
              <a:t>⚠  Barcode Scanning Degradation on Chilled Items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Risk: Moisture condensation on milk/meat pouches makes 1D barcodes unreadable.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✓ Solution &amp; Future Safeguard: Audio scan validation, regex string normalization, and rapid 3-letter manual SKU fallback. Future: 2D DataMatrix and HF-RFID pallet tags.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193792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736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SUPPLY CHAIN, FOOD SAFETY &amp; SCALABILITY</a:t>
            </a:r>
          </a:p>
          <a:p>
            <a:pPr>
              <a:spcBef>
                <a:spcPts val="8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⚠  Distributor Delays &amp; Festival Demand Surges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Risk: Local supply chain volatility and festival surges (Eid/Ramadan) trigger stockouts.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✓ Solution &amp; Future Safeguard: Greasley Stochastic Safety Stock (SS = Z·√(L·σd² + d²·σL²)) with 1-click stress presets (1.4x, 2.5x). Future: Automated vendor EDI purchase order triggers.</a:t>
            </a:r>
          </a:p>
          <a:p>
            <a:pPr>
              <a:spcBef>
                <a:spcPts val="8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⚠  Food Safety Non-Compliance (BFSA 2013)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Risk: Manual oversight allowing expired or near-expiry batches on retail shelves.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✓ Solution &amp; Future Safeguard: Hard-coded 65% residual shelf-life receiving gate and automated FEFO allocation. Future: IoT cold-chain sensor integration with automatic thermal anomaly alerts.</a:t>
            </a:r>
          </a:p>
          <a:p>
            <a:pPr>
              <a:spcBef>
                <a:spcPts val="8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⚠  Multi-Branch Growth &amp; Data Synchronization Lag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Risk: Expanding from single store to regional chain creates inventory sync bottlenecks.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Calibri"/>
              </a:defRPr>
            </a:pPr>
            <a:r>
              <a:t>✓ Solution &amp; Future Safeguard: Dockerized modular architecture with read-replica database pools. Future: Event-driven architecture (RabbitMQ/Kafka) for real-time inter-branch stock transfers.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CONCRETE DELIVERABLES &amp; PROJECT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Expected Outcomes &amp; Core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9/10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25420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2542032" cy="7315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21762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Working Enterprise Software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Fully functional web application with 7 interconnected workspaces (Dashboard, POS, Inbound, Putaway, Digital Twin, Procurement, Audits).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417320"/>
            <a:ext cx="25420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417320"/>
            <a:ext cx="2542032" cy="731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600200"/>
            <a:ext cx="21762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Sub-2.0s FEFO Engine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Automated earliest-expiry batch allocation eliminating 18% perishability waste while preventing multi-till overselling.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417320"/>
            <a:ext cx="25420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417320"/>
            <a:ext cx="2542032" cy="7315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600200"/>
            <a:ext cx="21762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70-Page Master Tech Suite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Comprehensive technical documentation covering PRD, 3NF schema, REST API contracts, and viva defense guide.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417320"/>
            <a:ext cx="25420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256" y="1417320"/>
            <a:ext cx="2542032" cy="73152"/>
          </a:xfrm>
          <a:prstGeom prst="rect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1600200"/>
            <a:ext cx="21762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100% Automated Test Suite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Comprehensive suite of 27 automated tests verifying database transactions, API endpoints, and UI components.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526280"/>
            <a:ext cx="10728655" cy="16916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66344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284C7"/>
                </a:solidFill>
                <a:latin typeface="Calibri"/>
              </a:defRPr>
            </a:pPr>
            <a:r>
              <a:t>CORE VALUE PROPOSITION:</a:t>
            </a:r>
          </a:p>
          <a:p>
            <a:pPr>
              <a:spcBef>
                <a:spcPts val="3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1. Zero Phantom Stockouts: Real-time PostgreSQL 3NF synchronization ensures inventory accuracy stays at 99.8%.</a:t>
            </a:r>
            <a:br/>
            <a:r>
              <a:t>2. Automated Food Safety: Enforced 65% quality gate and FEFO logic eliminate expired food sales under BFSA 2013.</a:t>
            </a:r>
            <a:br/>
            <a:r>
              <a:t>3. Built for Bangladesh Realities: Greasley stochastic buffer handles local supplier delays and festival demand surges without multi-million BDT enterprise licenses.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515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SUMMARY, REFERENCES &amp;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Calibri"/>
              </a:defRPr>
            </a:pPr>
            <a:r>
              <a:t>Conclusion &amp; Viva Defense 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Defense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10/10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6692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PROJECT SUMMARY &amp; REFERENCES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RetailSync demonstrates that robust database concurrency, automated food safety compliance, and stochastic replenishment algorithms can be successfully unified into a production-tested supermarket WMS built on open-source technologies.</a:t>
            </a:r>
          </a:p>
          <a:p>
            <a:br/>
            <a:pPr>
              <a:spcBef>
                <a:spcPts val="400"/>
              </a:spcBef>
              <a:defRPr sz="1100" b="1">
                <a:solidFill>
                  <a:srgbClr val="475569"/>
                </a:solidFill>
                <a:latin typeface="Calibri"/>
              </a:defRPr>
            </a:pPr>
            <a:r>
              <a:t>Key References: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[1] Greasley, A. (2013). Operations Management, 3rd Ed. Wiley.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[2] Silver, E. A., et al. (1998). Inventory Management &amp; Scheduling.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[3] Bangladesh Parliament. Bangladesh Food Safety Act 2013.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[4] Postman, J., et al. (2024). High-Concurrency Row Locking in RDBMS.</a:t>
            </a:r>
          </a:p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[5] DIU Dept. of Software Engineering. SE-231 Capstone Guidelines (2026).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417320"/>
            <a:ext cx="478505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41655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284C7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Bef>
                <a:spcPts val="200"/>
              </a:spcBef>
              <a:defRPr sz="1300">
                <a:solidFill>
                  <a:srgbClr val="475569"/>
                </a:solidFill>
                <a:latin typeface="Calibri"/>
              </a:defRPr>
            </a:pPr>
            <a:r>
              <a:t>Open for Questions &amp; Defense Discussion</a:t>
            </a:r>
          </a:p>
          <a:p>
            <a:br/>
            <a:pPr algn="l">
              <a:spcBef>
                <a:spcPts val="8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Live Demonstrations Ready:</a:t>
            </a:r>
            <a:br/>
            <a:r>
              <a:t>• Frontline POS Concurrency Race Simulator (5-Till Lock)</a:t>
            </a:r>
            <a:br/>
            <a:r>
              <a:t>• Greasley Stochastic Safety Stock &amp; EOQ Simulator</a:t>
            </a:r>
            <a:br/>
            <a:r>
              <a:t>• 2D Spatial Digital Twin Warehouse Heatmap</a:t>
            </a:r>
            <a:br/>
            <a:r>
              <a:t>• BFSA 2013 Compliant Audit Ledger CSV Export</a:t>
            </a:r>
          </a:p>
          <a:p>
            <a:br/>
            <a:pPr algn="ctr">
              <a:spcBef>
                <a:spcPts val="1000"/>
              </a:spcBef>
              <a:defRPr sz="1000" b="1">
                <a:solidFill>
                  <a:srgbClr val="0284C7"/>
                </a:solidFill>
                <a:latin typeface="Calibri"/>
              </a:defRPr>
            </a:pPr>
            <a:r>
              <a:t>Project Team: Raisul Islam Likhon  ·  Shottobroto Dey  ·  Golam Husnain Papon</a:t>
            </a:r>
            <a:br/>
            <a:r>
              <a:t>Department of Software Engineering  ·  Daffodil International University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2743200"/>
            <a:ext cx="3319272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