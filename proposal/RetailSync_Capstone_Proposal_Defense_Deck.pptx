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188720"/>
            <a:ext cx="4389120" cy="38404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284C7"/>
                </a:solidFill>
                <a:latin typeface="Calibri"/>
              </a:defRPr>
            </a:pPr>
            <a:r>
              <a:t>SE 231  ·  PROJECT PROPOSAL PRESENTATION</a:t>
            </a:r>
          </a:p>
        </p:txBody>
      </p:sp>
      <p:pic>
        <p:nvPicPr>
          <p:cNvPr id="4" name="Picture 3" descr="retailsyn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09728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1737360"/>
            <a:ext cx="9326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RetailSync: Centralized Super Shop Warehouse Management System</a:t>
            </a:r>
          </a:p>
          <a:p>
            <a:pPr>
              <a:spcBef>
                <a:spcPts val="800"/>
              </a:spcBef>
              <a:defRPr sz="1500">
                <a:solidFill>
                  <a:srgbClr val="475569"/>
                </a:solidFill>
                <a:latin typeface="Calibri"/>
              </a:defRPr>
            </a:pPr>
            <a:r>
              <a:t>Sub-2.0s Transactional FEFO Allocation, Multi-Till Concurrency Control &amp; Stochastic Replenishment for Bangladesh Retail Chains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291840"/>
            <a:ext cx="978408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9784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1650" b="1">
                <a:solidFill>
                  <a:srgbClr val="0F172A"/>
                </a:solidFill>
                <a:latin typeface="Calibri"/>
              </a:defRPr>
            </a:pPr>
            <a:r>
              <a:t>Raisul Islam Likhon (Lead)   ·   Shottobroto Dey   ·   Golam Husnain Papon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Calibri"/>
              </a:defRPr>
            </a:pPr>
            <a:r>
              <a:t>Section SWE-44D  ·  Batch 44th  ·  System Analysis &amp; Design Capstone Project 2</a:t>
            </a:r>
          </a:p>
          <a:p>
            <a:pPr>
              <a:spcBef>
                <a:spcPts val="400"/>
              </a:spcBef>
              <a:defRPr sz="1200" b="1">
                <a:solidFill>
                  <a:srgbClr val="475569"/>
                </a:solidFill>
                <a:latin typeface="Calibri"/>
              </a:defRPr>
            </a:pPr>
            <a:r>
              <a:t>Department of Software Engineering  ·  Faculty of Science &amp; Information Technology  ·  Daffodil International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TEAM RESPONSIBILITIES &amp;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Our Capstone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3375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4519" y="1783080"/>
            <a:ext cx="1051560" cy="1051560"/>
          </a:xfrm>
          <a:prstGeom prst="ellipse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2971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Raisul Islam Likhon</a:t>
            </a:r>
          </a:p>
          <a:p>
            <a:pPr algn="ctr">
              <a:spcBef>
                <a:spcPts val="200"/>
              </a:spcBef>
              <a:defRPr sz="1150">
                <a:solidFill>
                  <a:srgbClr val="475569"/>
                </a:solidFill>
                <a:latin typeface="Consolas"/>
              </a:defRPr>
            </a:pPr>
            <a:r>
              <a:t>ID: 251-35-508  ·  SWE-44D</a:t>
            </a:r>
          </a:p>
          <a:p>
            <a:pPr algn="ctr">
              <a:spcBef>
                <a:spcPts val="400"/>
              </a:spcBef>
              <a:defRPr sz="1150" b="1">
                <a:solidFill>
                  <a:srgbClr val="0284C7"/>
                </a:solidFill>
                <a:latin typeface="Calibri"/>
              </a:defRPr>
            </a:pPr>
            <a:r>
              <a:t>[Project Lead &amp; System Architect]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Overall system architecture &amp; FastAPI backend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PostgreSQL 16 3NF schema &amp; row-locking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Sub-2.0s FEFO atomic checkout engine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Dockerization, test automation &amp; team coordination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508760"/>
            <a:ext cx="33375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68696" y="1783080"/>
            <a:ext cx="1051560" cy="105156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926080"/>
            <a:ext cx="2971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Shottobroto Dey</a:t>
            </a:r>
          </a:p>
          <a:p>
            <a:pPr algn="ctr">
              <a:spcBef>
                <a:spcPts val="200"/>
              </a:spcBef>
              <a:defRPr sz="1150">
                <a:solidFill>
                  <a:srgbClr val="475569"/>
                </a:solidFill>
                <a:latin typeface="Consolas"/>
              </a:defRPr>
            </a:pPr>
            <a:r>
              <a:t>ID: 251-35-017  ·  SWE-44D</a:t>
            </a:r>
          </a:p>
          <a:p>
            <a:pPr algn="ctr">
              <a:spcBef>
                <a:spcPts val="400"/>
              </a:spcBef>
              <a:defRPr sz="1150" b="1">
                <a:solidFill>
                  <a:srgbClr val="10B981"/>
                </a:solidFill>
                <a:latin typeface="Calibri"/>
              </a:defRPr>
            </a:pPr>
            <a:r>
              <a:t>[Backend &amp; Algorithm Engineer]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Replenishment DSS &amp; mathematical modeling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Greasley safety stock algorithm implementation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Wilson EOQ cost optimization calculations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REST API contracts, validations &amp; test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508760"/>
            <a:ext cx="33375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62872" y="1783080"/>
            <a:ext cx="1051560" cy="1051560"/>
          </a:xfrm>
          <a:prstGeom prst="ellipse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GP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926080"/>
            <a:ext cx="2971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Golam Husnain Papon</a:t>
            </a:r>
          </a:p>
          <a:p>
            <a:pPr algn="ctr">
              <a:spcBef>
                <a:spcPts val="200"/>
              </a:spcBef>
              <a:defRPr sz="1150">
                <a:solidFill>
                  <a:srgbClr val="475569"/>
                </a:solidFill>
                <a:latin typeface="Consolas"/>
              </a:defRPr>
            </a:pPr>
            <a:r>
              <a:t>ID: 251-35-529  ·  SWE-44D</a:t>
            </a:r>
          </a:p>
          <a:p>
            <a:pPr algn="ctr">
              <a:spcBef>
                <a:spcPts val="400"/>
              </a:spcBef>
              <a:defRPr sz="1150" b="1">
                <a:solidFill>
                  <a:srgbClr val="6366F1"/>
                </a:solidFill>
                <a:latin typeface="Calibri"/>
              </a:defRPr>
            </a:pPr>
            <a:r>
              <a:t>[Frontend &amp; Digital Twin Engineer]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Calm Mission Studio UI design system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2D spatial warehouse floorplan heatmap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Frontline POS terminal &amp; audio synthesis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• Receiving dock 65% quality gate inspector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Introduction &amp; Project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691640"/>
            <a:ext cx="2011680" cy="292608"/>
          </a:xfrm>
          <a:prstGeom prst="roundRect">
            <a:avLst/>
          </a:prstGeom>
          <a:solidFill>
            <a:srgbClr val="FEE2E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F4444"/>
                </a:solidFill>
                <a:latin typeface="Calibri"/>
              </a:defRPr>
            </a:pPr>
            <a:r>
              <a:t>CURRENT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971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Disconnected Retail Floors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Supermarket billing counters and backroom warehouses operate as isolated islands. Sales tallies are reconciled manually at day-end via paper sheets or generic accounting 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6304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45152" y="1691640"/>
            <a:ext cx="2011680" cy="292608"/>
          </a:xfrm>
          <a:prstGeom prst="roundRect">
            <a:avLst/>
          </a:prstGeom>
          <a:solidFill>
            <a:srgbClr val="FEF3C7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CRITICAL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057400"/>
            <a:ext cx="2971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Perishable Expiry Shrinkage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High-turnover FMCG (dairy, poultry, baked items) expire unnoticed in storage bays while front shelves experience stockouts, generating up to 18% preventable waste.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46304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4464" y="1691640"/>
            <a:ext cx="2011680" cy="292608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284C7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8744" y="2057400"/>
            <a:ext cx="2971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Centralized Transactional WMS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RetailSync unifies warehouse receiving, directed putaway, and frontline POS terminals into a single PostgreSQL 16 engine with atomic FEFO batch deduction.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10728655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25196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CORE OBJECTIVE: WHAT RETAILSYNC DELIVERS</a:t>
            </a:r>
          </a:p>
          <a:p>
            <a:pPr>
              <a:spcBef>
                <a:spcPts val="300"/>
              </a:spcBef>
              <a:defRPr sz="1200">
                <a:solidFill>
                  <a:srgbClr val="0F172A"/>
                </a:solidFill>
                <a:latin typeface="Calibri"/>
              </a:defRPr>
            </a:pPr>
            <a:r>
              <a:t>✓ Automated FEFO Allocation: Scans at checkout automatically select the earliest-expiring lot in under 2.0 seconds.</a:t>
            </a:r>
          </a:p>
          <a:p>
            <a:pPr>
              <a:spcBef>
                <a:spcPts val="300"/>
              </a:spcBef>
              <a:defRPr sz="1200">
                <a:solidFill>
                  <a:srgbClr val="0F172A"/>
                </a:solidFill>
                <a:latin typeface="Calibri"/>
              </a:defRPr>
            </a:pPr>
            <a:r>
              <a:t>✓ Zero Rush-Hour Overselling: Row-level database locking (SELECT ... FOR UPDATE SKIP LOCKED) prevents double sales.</a:t>
            </a:r>
          </a:p>
          <a:p>
            <a:pPr>
              <a:spcBef>
                <a:spcPts val="300"/>
              </a:spcBef>
              <a:defRPr sz="1200">
                <a:solidFill>
                  <a:srgbClr val="0F172A"/>
                </a:solidFill>
                <a:latin typeface="Calibri"/>
              </a:defRPr>
            </a:pPr>
            <a:r>
              <a:t>✓ Enforced 65% Shelf-Life Quality Gate: Reject batches at the receiving dock that fail compliance with Bangladesh Food Safety Act 2013.</a:t>
            </a:r>
          </a:p>
          <a:p>
            <a:pPr>
              <a:spcBef>
                <a:spcPts val="300"/>
              </a:spcBef>
              <a:defRPr sz="1200">
                <a:solidFill>
                  <a:srgbClr val="0F172A"/>
                </a:solidFill>
                <a:latin typeface="Calibri"/>
              </a:defRPr>
            </a:pPr>
            <a:r>
              <a:t>✓ Stochastic Replenishment Forecast: Greasley's dynamic safety stock models demand variance (σd) and local lead-time delays (σL).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CHALLENGES IN BANGLADESH SUPERMARKET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Problem Statement &amp; Industry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284C7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971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Phantom Stockouts &amp; Mismatches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Cashiers ring up items that are missing from physical shelves, while excess stock sits unrecorded in backroom boxes. Discrepancies between POS registers and physical inventory reach 8% to 14% daily.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160520"/>
            <a:ext cx="2880360" cy="320040"/>
          </a:xfrm>
          <a:prstGeom prst="roundRect">
            <a:avLst/>
          </a:prstGeom>
          <a:solidFill>
            <a:srgbClr val="FEE2E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EF4444"/>
                </a:solidFill>
                <a:latin typeface="Consolas"/>
              </a:defRPr>
            </a:pPr>
            <a:r>
              <a:t>8–14% Discrepancy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463040"/>
            <a:ext cx="34290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645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284C7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194560"/>
            <a:ext cx="2971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Perishable Expiry Write-Offs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Without batch-specific tracking, floor clerks place newer stock on top of older goods. Over 18% of dairy, baked items, and fresh juices expire before sale, eroding supermarket profit margins.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4160520"/>
            <a:ext cx="2880360" cy="320040"/>
          </a:xfrm>
          <a:prstGeom prst="roundRect">
            <a:avLst/>
          </a:prstGeom>
          <a:solidFill>
            <a:srgbClr val="FEE2E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EF4444"/>
                </a:solidFill>
                <a:latin typeface="Consolas"/>
              </a:defRPr>
            </a:pPr>
            <a:r>
              <a:t>18% Expiry Shrinkage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463040"/>
            <a:ext cx="34290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645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284C7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194560"/>
            <a:ext cx="2971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F172A"/>
                </a:solidFill>
                <a:latin typeface="Calibri"/>
              </a:defRPr>
            </a:pPr>
            <a:r>
              <a:t>Multi-Till Race Conditions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During peak evening rush (5 PM–9 PM), multiple checkout registers scan the last remaining inventory units simultaneously. Disconnected POS tools cause phantom approvals and angry customers.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4160520"/>
            <a:ext cx="2880360" cy="320040"/>
          </a:xfrm>
          <a:prstGeom prst="roundRect">
            <a:avLst/>
          </a:prstGeom>
          <a:solidFill>
            <a:srgbClr val="FEE2E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EF4444"/>
                </a:solidFill>
                <a:latin typeface="Consolas"/>
              </a:defRPr>
            </a:pPr>
            <a:r>
              <a:t>Sub-2.0s Race Condition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10728655" cy="12801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37760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THE MARKET GAP IN BANGLADESH:</a:t>
            </a:r>
          </a:p>
          <a:p>
            <a:pPr>
              <a:spcBef>
                <a:spcPts val="200"/>
              </a:spcBef>
              <a:defRPr sz="1200">
                <a:solidFill>
                  <a:srgbClr val="0F172A"/>
                </a:solidFill>
                <a:latin typeface="Calibri"/>
              </a:defRPr>
            </a:pPr>
            <a:r>
              <a:t>Enterprise ERP systems (SAP, Oracle) require millions of BDT and dedicated IT teams, while existing desktop POS systems lack warehouse-level batch traceability. RetailSync bridges this gap with an affordable, high-speed, and production-tested architecture.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END-TO-END OPERATIONAL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How the System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25880" y="1874519"/>
            <a:ext cx="777240" cy="777240"/>
          </a:xfrm>
          <a:prstGeom prst="ellipse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Dock Inbound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Clerk verifies digital PO; 65% quality gate algorithm inspects batch shelf-life before GRN receipt.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16935" y="164592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11295" y="1874519"/>
            <a:ext cx="777240" cy="777240"/>
          </a:xfrm>
          <a:prstGeom prst="ellipse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5" y="28346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Directed Putaway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Engine calculates shortest Manhattan distance and routes items into thermal storage bays (A01–D01).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02351" y="164592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96712" y="1874519"/>
            <a:ext cx="777240" cy="7772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28346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Real-Time Sync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PostgreSQL 16 3NF schema synchronizes quantities across warehouse racks and frontline registers.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7" y="164592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82127" y="1874519"/>
            <a:ext cx="777240" cy="77724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28346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FEFO Checkout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Cashier scans barcode; atomic row-level locks deduct the earliest-expiring batch in &lt; 2.0s.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73184" y="1645920"/>
            <a:ext cx="19659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67544" y="1874519"/>
            <a:ext cx="777240" cy="777240"/>
          </a:xfrm>
          <a:prstGeom prst="ellipse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0344" y="28346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DSS Reorder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Greasley safety stock models lead-time variance and triggers optimal Wilson EOQ replenishment.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03520"/>
            <a:ext cx="10728655" cy="822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3949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🔄  CONTINUOUS SYNCHRONIZATION LOOP:  Transactions execute atomically. Store managers and floor operators retain real-time visibility across all store nodes via the Calm Mission Studio telemetry ribbon.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SYSTEM LIFECYCLE &amp; FEFO PIPELINE (FIGURE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Operational Process Flowchart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7132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2_operationa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685800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20" y="1417320"/>
            <a:ext cx="34134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00200"/>
            <a:ext cx="30449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KEY PROCESS MILESTONES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Digital PO Matching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Receiving dock scans supplier invoice against open PO lines.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65% Shelf-Life Gate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Batches with &lt; 65% residual life are quarantined immediately.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Directed Bin Allocation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Operator routed to shortest Manhattan distance storage bin.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POS Row-Lock Deduction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FastAPI locks the earliest batch with SELECT FOR UPDATE SKIP LOCKED.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Immutable Stock Ledger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Append-only cryptographic transaction journal records inventory deltas.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INBOUND RECEIVING &amp; DIRECTED PUTAWAY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Core Modules: Warehouse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6636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9164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284C7"/>
                </a:solidFill>
                <a:latin typeface="Calibri"/>
              </a:defRPr>
            </a:pPr>
            <a:r>
              <a:t>Module 1: Inbound Dock &amp; 65% Quality Gate</a:t>
            </a:r>
          </a:p>
          <a:p>
            <a:pPr>
              <a:spcBef>
                <a:spcPts val="2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Digital PO receiving inspection compliant with Bangladesh Food Safety Act 2013.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Digital Purchase Order verification against supplier delivery notes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Automated residual shelf-life computation (Residual % = [Expiry - Recv] / [Expiry - Mfd])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Enforced 65% Quality Gate: Batches below 65% are flagged for quarantine or discount return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Goods Receipt Note (GRN) issuance with automatic barcode &amp; batch lot creation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Multi-bay receiving docks (Bay #01–#04) with live queue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19379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6451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Calibri"/>
              </a:defRPr>
            </a:pPr>
            <a:r>
              <a:t>Module 2: Directed Putaway &amp; Spatial Routing</a:t>
            </a:r>
          </a:p>
          <a:p>
            <a:pPr>
              <a:spcBef>
                <a:spcPts val="2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Algorithmic bin allocation minimizing floor travel distance and temperature zone violations.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Thermal zone compatibility: Ambient (A01-B01), Chilled 4°C (C01), Frozen -18°C (D01)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Shortest Manhattan walking distance routing algorithm: Distance = |X2 - X1| + |Y2 - Y1|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Weight &amp; volume bin capacity verification preventing pallet collapses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Operator step-by-step routing directions reducing warehouse putaway cycle times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Dock staging queue with visual unallocated batch inspection and status tracking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TRANSACTIONAL INTEGRITY &amp; CONCURRENCY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Core Modules: Frontline POS &amp; Concurrency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6636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9164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284C7"/>
                </a:solidFill>
                <a:latin typeface="Calibri"/>
              </a:defRPr>
            </a:pPr>
            <a:r>
              <a:t>Module 3: Frontline POS Checkout Register</a:t>
            </a:r>
          </a:p>
          <a:p>
            <a:pPr>
              <a:spcBef>
                <a:spcPts val="2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High-speed frontline barcode checkout with sub-2.0s transactional FEFO allocation.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Omni-channel barcode scanner listener with high-pitch tactile Web Audio confirmation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FMCG quick-tap visual category chips (Staples, Dairy, Oils, Snacks)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Automatic FEFO batch expiry deduction: Cashiers never need to guess expiration dates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Quick cash tender chips (Exact, ৳500, ৳1000) &amp; instant change calculation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Thermal receipt generation formatted with sawtooth tear-off aesthetic &amp; VAT breakdown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19379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6451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F4444"/>
                </a:solidFill>
                <a:latin typeface="Calibri"/>
              </a:defRPr>
            </a:pPr>
            <a:r>
              <a:t>Module 4: Row-Level Concurrency Control</a:t>
            </a:r>
          </a:p>
          <a:p>
            <a:pPr>
              <a:spcBef>
                <a:spcPts val="2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PostgreSQL 16 atomic locks preventing overselling across simultaneous store registers.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SELECT ... FOR UPDATE SKIP LOCKED locks target batch rows during transactional commit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Eliminates deadlocks and double-allocation race conditions during evening rush hours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Benchmark: Sub-2.0s average checkout latency under simultaneous 5-till race simulation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ACID guarantees: Failed tenders automatically release locks with zero ghost inventory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Built-in simulation modal allowing examiners to test simultaneous multi-till race conditions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SPATIAL TELEMETRY &amp; STOCHASTIC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Core Modules: Digital Twin &amp; Replenishment DSS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6636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91640"/>
            <a:ext cx="4617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366F1"/>
                </a:solidFill>
                <a:latin typeface="Calibri"/>
              </a:defRPr>
            </a:pPr>
            <a:r>
              <a:t>Module 5: 2D Spatial Digital Twin Map</a:t>
            </a:r>
          </a:p>
          <a:p>
            <a:pPr>
              <a:spcBef>
                <a:spcPts val="2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Live telemetry of physical storage racks, thermal zones, and perishable batch aging.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Interactive 2D floorplan matrix covering Aisles A01 through D01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Color-coded bin status: Green (Occupied), Red (Critical Expiry &lt; 7 Days), Slate (Empty)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Real-time thermal zone sensors: Ambient (22°C), Chilled (4°C), and Frozen (-18°C)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Click-to-inspect bin drawer revealing batch composition, residual shelf-life, and SKU quantities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Floor storage utilization metrics with near-expiry watchlist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19379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6451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284C7"/>
                </a:solidFill>
                <a:latin typeface="Calibri"/>
              </a:defRPr>
            </a:pPr>
            <a:r>
              <a:t>Module 6: Algorithmic Replenishment (DSS)</a:t>
            </a:r>
          </a:p>
          <a:p>
            <a:pPr>
              <a:spcBef>
                <a:spcPts val="2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Dynamic safety stock and lot-sizing factoring demand and supplier lead-time variance.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Greasley Stochastic Safety Stock: SS = Z × sqrt(L × σd² + d² × σL²)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Accounts for unpredictable supply delays in Dhaka traffic and distributor stockouts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Wilson Economic Order Quantity (EOQ): EOQ = sqrt(2 × D × S / H) balancing order &amp; hold costs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One-click scenario presets: Normal Operations (1.0x), Friday Rush (1.4x), Ramadan Surge (2.5x)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  <a:latin typeface="Calibri"/>
              </a:defRPr>
            </a:pPr>
            <a:r>
              <a:t>✓ Automated 1-click PO creation when stock drops below Dynamic Reorder Point (ROP = d × L + SS)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4-TIER CYBER-PHYSICAL ENTERPRISE ARCHITECTURE (FIGURE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7132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685800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20" y="1417320"/>
            <a:ext cx="34134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00200"/>
            <a:ext cx="30449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FOUR-TIER BREAKDOWN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1. Presentation Tier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Calm Mission Studio UI, POS Register Terminal, 2D Floorplan, Responsive Mobile Drawer.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2. Gateway &amp; Security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FastAPI middleware, OAuth2/JWT token verification, Role-Based Access Control (RBAC).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3. Domain Services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FEFO allocation worker, shortest-path Manhattan router, Greasley replenishment DSS engine.</a:t>
            </a:r>
          </a:p>
          <a:p>
            <a:pPr>
              <a:spcBef>
                <a:spcPts val="400"/>
              </a:spcBef>
              <a:defRPr sz="1150" b="1">
                <a:solidFill>
                  <a:srgbClr val="0F172A"/>
                </a:solidFill>
                <a:latin typeface="Calibri"/>
              </a:defRPr>
            </a:pPr>
            <a:r>
              <a:t>• 4. Persistence Tier</a:t>
            </a:r>
          </a:p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PostgreSQL 16 strict 3NF schema, row-level locking, immutable append-only stock ledger.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TOOLS, FRAMEWORKS &amp;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Technology Stack &amp;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627632"/>
            <a:ext cx="2011680" cy="292608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572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FastAPI (Python 3.14)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High-performance async framework with automatic OpenAPI documentation and Pydantic v2 type safety.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627632"/>
            <a:ext cx="2011680" cy="292608"/>
          </a:xfrm>
          <a:prstGeom prst="roundRect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72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PostgreSQL 16 (3NF)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Enterprise database engine with strict third-normal form normalization and row-level locking.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2770632"/>
            <a:ext cx="2011680" cy="29260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SQLAlchemy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15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SQLAlchemy 2.0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Declarative ORM with explicit transactional unit-of-work boundaries and migration control.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606040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70632"/>
            <a:ext cx="2011680" cy="292608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Calm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15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Calm Mission Studio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Modular Swiss-inspired web design system with zero eye-glare, single accent sky blue, and status strips.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749039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3913631"/>
            <a:ext cx="2011680" cy="292608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Jinja2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858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Jinja2 &amp; Vanilla JS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Ultra-fast server-side HTML rendering with pure ES6 JavaScript and zero bulky framework bloat.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3913631"/>
            <a:ext cx="2011680" cy="292608"/>
          </a:xfrm>
          <a:prstGeom prst="round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58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Docker &amp; Docker Compose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Isolated containerized execution ensuring identical behavior across development and production.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92040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5056631"/>
            <a:ext cx="2011680" cy="292608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001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GitHub Actions CI/CD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Continuous integration running automated test suites (27/27 tests) on every git push.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892040"/>
            <a:ext cx="52422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0" y="5056631"/>
            <a:ext cx="2011680" cy="292608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Agile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001768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Agile Scrum (14 Weeks)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Iterative development in 2-week sprints with testable scenario gates and viva checkpoints.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14-WEEK AGILE SCRUM IMPLEMENTATION SCHEDULE (FIGURE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Project Timeline &amp; Sprint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572768"/>
            <a:ext cx="1188720" cy="365760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W1–W2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554480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Sprint 1: Inception &amp; PRD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5448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Problem analysis, stakeholder interviews, requirement documentation, DIU proposal setup.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21408"/>
            <a:ext cx="1072865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231136"/>
            <a:ext cx="1188720" cy="365760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W3–W4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2128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Sprint 2: Architecture &amp; DB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212848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PostgreSQL 16 3NF schema design, ERD modeling, API endpoint contract specifications.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79776"/>
            <a:ext cx="1072865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2889504"/>
            <a:ext cx="1188720" cy="365760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W5–W6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871216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Sprint 3: Dock Inbound &amp; Quality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871216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Receiving dock portal, automated 65% shelf-life quality gate, Goods Receipt Note (GRN) issuance.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438144"/>
            <a:ext cx="1072865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547872"/>
            <a:ext cx="1188720" cy="365760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W7–W8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529584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Sprint 4: Directed Putaway &amp; Digital Twin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529584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Shortest Manhattan routing engine, thermal zone bay allocation, 2D floorplan heatmap.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096512"/>
            <a:ext cx="1072865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4206240"/>
            <a:ext cx="1188720" cy="365760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W9–W10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187952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Sprint 5: Frontline POS &amp; Concurrency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4187952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High-speed barcode register terminal, sub-2.0s transactional FEFO row-locking, receipt generator.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754879"/>
            <a:ext cx="1072865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864607"/>
            <a:ext cx="1188720" cy="365760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W11–W12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846319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Sprint 6: Replenishment DSS &amp; Audits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4846319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Greasley stochastic safety stock formula, Wilson EOQ lot sizing, immutable stock ledger.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413248"/>
            <a:ext cx="1072865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5522976"/>
            <a:ext cx="1188720" cy="365760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W13–W14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550468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Sprint 7: Testing &amp; Viva Defense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5504688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End-to-end integration testing, 27/27 automated test suite, capstone presentation &amp; viva defense.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INDIVIDUAL MEMBER CONTRIBUTIONS &amp; 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Work Distribution &amp; Task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375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971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Raisul Islam Likhon</a:t>
            </a:r>
          </a:p>
          <a:p>
            <a:pPr>
              <a:spcBef>
                <a:spcPts val="200"/>
              </a:spcBef>
              <a:defRPr sz="1100" b="1">
                <a:solidFill>
                  <a:srgbClr val="0284C7"/>
                </a:solidFill>
                <a:latin typeface="Consolas"/>
              </a:defRPr>
            </a:pPr>
            <a:r>
              <a:t>PROJECT LEAD  ·  ID: 251-35-508</a:t>
            </a:r>
          </a:p>
          <a:p>
            <a:pPr>
              <a:spcBef>
                <a:spcPts val="800"/>
              </a:spcBef>
              <a:defRPr sz="1050" b="1">
                <a:solidFill>
                  <a:srgbClr val="475569"/>
                </a:solidFill>
                <a:latin typeface="Calibri"/>
              </a:defRPr>
            </a:pPr>
            <a:r>
              <a:t>PRIMARY FOCUS: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Overall system architecture &amp; FastAPI backend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PostgreSQL 16 strict 3NF schema design &amp; indexing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Row-level locking concurrency engine (SELECT FOR UPDATE)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Git repository coordination &amp; automated CI/CD pipeline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SECONDARY: Master engineering suite documentation (70p), viva prep guide.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463040"/>
            <a:ext cx="33375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600200"/>
            <a:ext cx="2971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Shottobroto Dey</a:t>
            </a:r>
          </a:p>
          <a:p>
            <a:pPr>
              <a:spcBef>
                <a:spcPts val="200"/>
              </a:spcBef>
              <a:defRPr sz="1100" b="1">
                <a:solidFill>
                  <a:srgbClr val="10B981"/>
                </a:solidFill>
                <a:latin typeface="Consolas"/>
              </a:defRPr>
            </a:pPr>
            <a:r>
              <a:t>BACKEND &amp; ALGORITHMS  ·  ID: 251-35-017</a:t>
            </a:r>
          </a:p>
          <a:p>
            <a:pPr>
              <a:spcBef>
                <a:spcPts val="800"/>
              </a:spcBef>
              <a:defRPr sz="1050" b="1">
                <a:solidFill>
                  <a:srgbClr val="475569"/>
                </a:solidFill>
                <a:latin typeface="Calibri"/>
              </a:defRPr>
            </a:pPr>
            <a:r>
              <a:t>PRIMARY FOCUS: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Replenishment Decision Support System (DSS) engine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Greasley stochastic safety stock mathematical modeling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Wilson Economic Order Quantity (EOQ) optimization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API contract specification &amp; Pydantic response schemas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SECONDARY: One-click surge simulation logic, automated test suites.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463040"/>
            <a:ext cx="33375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600200"/>
            <a:ext cx="2971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Golam Husnain Papon</a:t>
            </a:r>
          </a:p>
          <a:p>
            <a:pPr>
              <a:spcBef>
                <a:spcPts val="200"/>
              </a:spcBef>
              <a:defRPr sz="1100" b="1">
                <a:solidFill>
                  <a:srgbClr val="6366F1"/>
                </a:solidFill>
                <a:latin typeface="Consolas"/>
              </a:defRPr>
            </a:pPr>
            <a:r>
              <a:t>FRONTEND &amp; DIGITAL TWIN  ·  ID: 251-35-529</a:t>
            </a:r>
          </a:p>
          <a:p>
            <a:pPr>
              <a:spcBef>
                <a:spcPts val="800"/>
              </a:spcBef>
              <a:defRPr sz="1050" b="1">
                <a:solidFill>
                  <a:srgbClr val="475569"/>
                </a:solidFill>
                <a:latin typeface="Calibri"/>
              </a:defRPr>
            </a:pPr>
            <a:r>
              <a:t>PRIMARY FOCUS: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Calm Mission Studio UI design system &amp; CSS tokens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2D spatial warehouse floorplan heatmap &amp; bin drawer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Frontline POS terminal &amp; audio synthesis integration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Inbound dock 65% quality gate inspector interface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SECONDARY: Cross-device responsiveness, interactive presentations &amp; slides.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32120"/>
            <a:ext cx="10728655" cy="6858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596128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SHARED TEAM RESPONSIBILITIES: Requirement analysis, system modeling (Use Case, DFD, ERD), end-to-end integration testing, technical documentation, and capstone viva defense presentation.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FRUGAL ACADEMIC PROTOTYPING BUDGET (BDT)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Budget Estimation &amp; Financial Feasibility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7132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834640"/>
                <a:gridCol w="1371600"/>
              </a:tblGrid>
              <a:tr h="51435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 Description</a:t>
                      </a:r>
                    </a:p>
                  </a:txBody>
                  <a:tcPr marT="73152" marB="73152" marL="91440" marR="9144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Operational Purpose</a:t>
                      </a:r>
                    </a:p>
                  </a:txBody>
                  <a:tcPr marT="73152" marB="73152" marL="91440" marR="9144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(BDT)</a:t>
                      </a:r>
                    </a:p>
                  </a:txBody>
                  <a:tcPr marT="73152" marB="73152" marL="91440" marR="91440">
                    <a:solidFill>
                      <a:srgbClr val="0B1F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Cloud VPS Hosting (Academic Tier)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FastAPI backend &amp; PostgreSQL 16 server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4,500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Managed PostgreSQL Database (10 GB)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Central 3NF transactional storage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3,500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1D/2D Handheld Barcode Scanner (x2)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Frontline POS register input hardware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3,800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Thermal ESC/POS Receipt Printer (x1)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POS thermal receipt testing hardware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4,200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Domain Name &amp; SSL Certificate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Production DNS &amp; HTTPS security (1 Year)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1,800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Test FMCG Inventory Batch Samples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Sample products for dock &amp; FEFO validation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2,200</a:t>
                      </a:r>
                    </a:p>
                  </a:txBody>
                  <a:tcPr marT="54864" marB="54864" marL="91440" marR="91440"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Miscellaneous / Contingency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Cables, adapters, local testing contingencies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2,500</a:t>
                      </a:r>
                    </a:p>
                  </a:txBody>
                  <a:tcPr marT="54864" marB="54864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46720" y="1463040"/>
            <a:ext cx="3413455" cy="41148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4495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284C7"/>
                </a:solidFill>
                <a:latin typeface="Calibri"/>
              </a:defRPr>
            </a:pPr>
            <a:r>
              <a:t>TOTAL ESTIMATE</a:t>
            </a:r>
          </a:p>
          <a:p>
            <a:pPr algn="ctr">
              <a:spcBef>
                <a:spcPts val="400"/>
              </a:spcBef>
              <a:defRPr sz="3600" b="1">
                <a:solidFill>
                  <a:srgbClr val="0F172A"/>
                </a:solidFill>
                <a:latin typeface="Calibri"/>
              </a:defRPr>
            </a:pPr>
            <a:r>
              <a:t>≈ 22,500</a:t>
            </a:r>
          </a:p>
          <a:p>
            <a:pPr algn="ctr">
              <a:defRPr sz="1400" b="1">
                <a:solidFill>
                  <a:srgbClr val="0284C7"/>
                </a:solidFill>
                <a:latin typeface="Consolas"/>
              </a:defRPr>
            </a:pPr>
            <a:r>
              <a:t>BDT (~$190 USD)</a:t>
            </a:r>
          </a:p>
          <a:p>
            <a:br/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All core software frameworks (FastAPI, PostgreSQL 16, Python, Linux, VS Code, Git) are 100% open-source, eliminating expensive recurring enterprise licensing fees.</a:t>
            </a:r>
            <a:br/>
            <a:br/>
            <a:r>
              <a:t>Recovered ROI: Preventing a single batch expiry incident (≈ ৳30,000) recovers the complete development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TECHNICAL &amp; OPERATIONAL RISK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Risks &amp; Mitigation Strategies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613855"/>
              </a:tblGrid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Identified Engineering / Operational Risk</a:t>
                      </a:r>
                    </a:p>
                  </a:txBody>
                  <a:tcPr marT="73152" marB="73152" marL="109728" marR="109728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Architectural Mitigation Strategy</a:t>
                      </a:r>
                    </a:p>
                  </a:txBody>
                  <a:tcPr marT="73152" marB="73152" marL="109728" marR="109728">
                    <a:solidFill>
                      <a:srgbClr val="0B1F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⚠  High-Velocity Concurrency Race Conditions during peak Friday supermarket rushes</a:t>
                      </a:r>
                    </a:p>
                  </a:txBody>
                  <a:tcPr marT="54864" marB="54864" marL="109728" marR="109728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✓  PostgreSQL 16 row-level locking (SELECT ... FOR UPDATE SKIP LOCKED) with sub-2.0s atomic transaction commits.</a:t>
                      </a:r>
                    </a:p>
                  </a:txBody>
                  <a:tcPr marT="54864" marB="54864" marL="109728" marR="109728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⚠  Intermittent Network Disconnects at frontline checkout terminals</a:t>
                      </a:r>
                    </a:p>
                  </a:txBody>
                  <a:tcPr marT="54864" marB="54864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✓  Client-side offline buffering with automatic reconciliation queue upon network restoration.</a:t>
                      </a:r>
                    </a:p>
                  </a:txBody>
                  <a:tcPr marT="54864" marB="54864"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⚠  Faulty / Damaged Barcode Scans on damp or refrigerated packaging</a:t>
                      </a:r>
                    </a:p>
                  </a:txBody>
                  <a:tcPr marT="54864" marB="54864" marL="109728" marR="109728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✓  Audio feedback synthesizer confirmation, regex string cleaning, and manual SKU entry fallback.</a:t>
                      </a:r>
                    </a:p>
                  </a:txBody>
                  <a:tcPr marT="54864" marB="54864" marL="109728" marR="109728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⚠  Sudden Demand Surges during festivals (Eid / Ramadan)</a:t>
                      </a:r>
                    </a:p>
                  </a:txBody>
                  <a:tcPr marT="54864" marB="54864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✓  Greasley stochastic safety stock formula with dynamic variance buffer (σd, σL) and 1-click simulation presets.</a:t>
                      </a:r>
                    </a:p>
                  </a:txBody>
                  <a:tcPr marT="54864" marB="54864" marL="109728" marR="10972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⚠  Warehouse Operator Resistance to complex software interfaces</a:t>
                      </a:r>
                    </a:p>
                  </a:txBody>
                  <a:tcPr marT="54864" marB="54864" marL="109728" marR="109728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✓  Calm Mission Studio high-density UI with high-contrast elements, zero clutter, and single-key shortcuts.</a:t>
                      </a:r>
                    </a:p>
                  </a:txBody>
                  <a:tcPr marT="54864" marB="54864" marL="109728" marR="109728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⚠  Data Corruption or Transactional Desynchronization</a:t>
                      </a:r>
                    </a:p>
                  </a:txBody>
                  <a:tcPr marT="54864" marB="54864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✓  Strict 3NF relational constraints, foreign keys, and tamper-proof immutable append-only stock ledger.</a:t>
                      </a:r>
                    </a:p>
                  </a:txBody>
                  <a:tcPr marT="54864" marB="54864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CONCRETE CAPSTONE ARTIFACTS &amp; 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Expected Outcomes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4203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645920"/>
            <a:ext cx="1097280" cy="292608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OUTCOME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1762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Working Production Software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Full web application with 7 interconnected workspaces (Dashboard, POS, Inbound, Putaway, Digital Twin, Procurement, Audits).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463040"/>
            <a:ext cx="254203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39312" y="1645920"/>
            <a:ext cx="1097280" cy="29260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OUTCOME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057400"/>
            <a:ext cx="21762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High-Speed FEFO Engine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Proven sub-2.0s transactional batch deduction eliminating expiry write-offs across multi-till checkout lines.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463040"/>
            <a:ext cx="254203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64224" y="1645920"/>
            <a:ext cx="1097280" cy="292608"/>
          </a:xfrm>
          <a:prstGeom prst="round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OUTCOME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057400"/>
            <a:ext cx="21762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70-Page Tech Suite (PDF/DOCX)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Complete academic specifications covering PRD, 3NF schema, REST API contracts, and viva preparation guide.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463040"/>
            <a:ext cx="2542032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89136" y="1645920"/>
            <a:ext cx="1097280" cy="292608"/>
          </a:xfrm>
          <a:prstGeom prst="roundRect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OUTCOME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057400"/>
            <a:ext cx="21762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100% Automated Test Suite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Comprehensive suite of 27 automated tests verifying database transactions, API responses, and UI components.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1480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5196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FUTURE WORK &amp; POST-CAPSTONE ENHANCEMENTS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→ Computer Vision Barcode Scanning: Overhead camera rigs for hands-free pallet barcode scanning at receiving bays.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→ Regional Multi-Warehouse Mesh: Inter-branch stock transfer balancing with automated transit tracking across cities.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→ Native Android Tablet App: Dedicated lightweight mobile terminals for warehouse forklift and receiving operators.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→ Machine Learning Expiry Prediction: Dynamic decay curve modeling for unpasteurized dairy and fresh seasonal produce.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KEY TAKEAWAYS &amp; PROJECT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Conclusion &amp; Core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42032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2542032" cy="7315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21762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Zero Phantom Stockouts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Eliminates the 8–14% inventory discrepancy between checkouts and backrooms with PostgreSQL 16 ACID transactions and row locks.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463040"/>
            <a:ext cx="2542032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463040"/>
            <a:ext cx="2542032" cy="731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691640"/>
            <a:ext cx="21762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18% Expiry Loss Elimination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Guarantees older perishable batches are sold first through automated FEFO allocation and dock quality gate enforcement.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463040"/>
            <a:ext cx="2542032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463040"/>
            <a:ext cx="2542032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691640"/>
            <a:ext cx="21762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Built for Bangladesh Realities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Greasley stochastic safety stock accounts for Dhaka traffic delays, festival surges, and localized supply interruptions.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463040"/>
            <a:ext cx="2542032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256" y="1463040"/>
            <a:ext cx="2542032" cy="7315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1691640"/>
            <a:ext cx="21762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Production-Ready Capstone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A fully implemented, grounded, and automated-tested enterprise platform built for Daffodil International University.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10728655" cy="12801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ACADEMIC &amp; INDUSTRY VALUE STATEMENT</a:t>
            </a:r>
          </a:p>
          <a:p>
            <a:pPr>
              <a:spcBef>
                <a:spcPts val="300"/>
              </a:spcBef>
              <a:defRPr sz="1200">
                <a:solidFill>
                  <a:srgbClr val="0F172A"/>
                </a:solidFill>
                <a:latin typeface="Calibri"/>
              </a:defRPr>
            </a:pPr>
            <a:r>
              <a:t>RetailSync establishes that robust database concurrency, food safety compliance, and mathematical inventory algorithms can be unified into an accessible, high-speed web application without millions in enterprise licensing fees.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Calibri"/>
              </a:defRPr>
            </a:pPr>
            <a:r>
              <a:t>ACADEMIC CITATIONS &amp;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Calibri"/>
              </a:defRPr>
            </a:pPr>
            <a:r>
              <a:t>References &amp; Viva Defense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RetailSync · SE-231 Capstone Project Proposal · Department of Software Engineering, DIU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284C7"/>
                </a:solidFill>
                <a:latin typeface="Consolas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603504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Calibri"/>
              </a:defRPr>
            </a:pPr>
            <a:r>
              <a:t>KEY ACADEMIC REFERENCES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[1] Greasley, A. (2013). Operations Management, 3rd Edition. John Wiley &amp; Sons.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[2] Silver, E. A., Pyke, D. F., &amp; Peterson, R. (1998). Inventory Management and Production Planning and Scheduling, 3rd Edition. Wiley.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[3] Bangladesh Parliament (2013). Bangladesh Food Safety Act 2013 (Act No. 43 of 2013). Ministry of Food, Government of Bangladesh.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[4] Postman, J., et al. (2024). High-Concurrency Row Locking in Modern Relational Database Engines. ACM SIGMOD Records, 53(2), 45-56.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[5] Daffodil International University (2026). Capstone Project 2 (SE-231) Syllabus &amp; Guidelines. Department of Software Engineering.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[6] PostgreSQL Global Development Group (2024). PostgreSQL 16.4 Documentation: Explicit Locking &amp; Concurrency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463040"/>
            <a:ext cx="446501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1691640"/>
            <a:ext cx="409651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284C7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Bef>
                <a:spcPts val="400"/>
              </a:spcBef>
              <a:defRPr sz="1400">
                <a:solidFill>
                  <a:srgbClr val="475569"/>
                </a:solidFill>
                <a:latin typeface="Calibri"/>
              </a:defRPr>
            </a:pPr>
            <a:r>
              <a:t>Open for Questions &amp; Defense Discussion</a:t>
            </a:r>
          </a:p>
          <a:p>
            <a:br/>
            <a:pPr algn="l">
              <a:spcBef>
                <a:spcPts val="12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Interactive Demonstrations Ready:</a:t>
            </a:r>
            <a:br/>
            <a:r>
              <a:t>• Frontline POS Concurrency Race (5-Till Lock)</a:t>
            </a:r>
            <a:br/>
            <a:r>
              <a:t>• Greasley Stochastic Safety Stock Simulator</a:t>
            </a:r>
            <a:br/>
            <a:r>
              <a:t>• 2D Spatial Digital Twin Warehouse Heatmap</a:t>
            </a:r>
            <a:br/>
            <a:r>
              <a:t>• BFSA 2013 Compliant Audit Ledger Export</a:t>
            </a:r>
          </a:p>
          <a:p>
            <a:br/>
            <a:pPr algn="ctr">
              <a:spcBef>
                <a:spcPts val="1200"/>
              </a:spcBef>
              <a:defRPr sz="1050" b="1">
                <a:solidFill>
                  <a:srgbClr val="0284C7"/>
                </a:solidFill>
                <a:latin typeface="Calibri"/>
              </a:defRPr>
            </a:pPr>
            <a:r>
              <a:t>Project Team:</a:t>
            </a:r>
            <a:br/>
            <a:r>
              <a:t>Raisul Islam Likhon (Lead)  ·  Shottobroto Dey  ·  Golam Husnain Papon</a:t>
            </a:r>
            <a:br/>
            <a:r>
              <a:t>Department of Software Engineering  ·  DIU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926080"/>
            <a:ext cx="3273552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