
<file path=[Content_Types].xml><?xml version="1.0" encoding="utf-8"?>
<Types xmlns="http://schemas.openxmlformats.org/package/2006/content-types">
  <Default Extension="bin" ContentType="application/vnd.openxmlformats-officedocument.presentationml.printerSettings"/>
  <Default Extension="jpeg" ContentType="image/jpeg"/>
  <Default Extension="jpg" ContentType="image/jpeg"/>
  <Default Extension="png" ContentType="image/pn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notesMasters/notesMaster1.xml" ContentType="application/vnd.openxmlformats-officedocument.presentationml.notesMaster+xml"/>
  <Override PartName="/ppt/notesSlides/notesSlide1.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theme/theme2.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7"/>
    <p:sldId id="257" r:id="rId9"/>
    <p:sldId id="258" r:id="rId10"/>
    <p:sldId id="259" r:id="rId11"/>
    <p:sldId id="260" r:id="rId12"/>
    <p:sldId id="261" r:id="rId13"/>
    <p:sldId id="262" r:id="rId14"/>
    <p:sldId id="263" r:id="rId15"/>
    <p:sldId id="264" r:id="rId16"/>
    <p:sldId id="265" r:id="rId17"/>
    <p:sldId id="266" r:id="rId18"/>
    <p:sldId id="267" r:id="rId19"/>
  </p:sldIdLst>
  <p:sldSz cx="12191695" cy="68580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snapToObjects="1">
      <p:cViewPr varScale="1">
        <p:scale>
          <a:sx n="124" d="100"/>
          <a:sy n="124" d="100"/>
        </p:scale>
        <p:origin x="-1512" y="-112"/>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printerSettings" Target="printerSettings/printerSettings1.bin"/><Relationship Id="rId3" Type="http://schemas.openxmlformats.org/officeDocument/2006/relationships/presProps" Target="presProps.xml"/><Relationship Id="rId4" Type="http://schemas.openxmlformats.org/officeDocument/2006/relationships/viewProps" Target="viewProps.xml"/><Relationship Id="rId5" Type="http://schemas.openxmlformats.org/officeDocument/2006/relationships/theme" Target="theme/theme1.xml"/><Relationship Id="rId6" Type="http://schemas.openxmlformats.org/officeDocument/2006/relationships/tableStyles" Target="tableStyles.xml"/><Relationship Id="rId7" Type="http://schemas.openxmlformats.org/officeDocument/2006/relationships/slide" Target="slides/slide1.xml"/><Relationship Id="rId8" Type="http://schemas.openxmlformats.org/officeDocument/2006/relationships/notesMaster" Target="notesMasters/notesMaster1.xml"/><Relationship Id="rId9" Type="http://schemas.openxmlformats.org/officeDocument/2006/relationships/slide" Target="slides/slide2.xml"/><Relationship Id="rId10" Type="http://schemas.openxmlformats.org/officeDocument/2006/relationships/slide" Target="slides/slide3.xml"/><Relationship Id="rId11" Type="http://schemas.openxmlformats.org/officeDocument/2006/relationships/slide" Target="slides/slide4.xml"/><Relationship Id="rId12" Type="http://schemas.openxmlformats.org/officeDocument/2006/relationships/slide" Target="slides/slide5.xml"/><Relationship Id="rId13" Type="http://schemas.openxmlformats.org/officeDocument/2006/relationships/slide" Target="slides/slide6.xml"/><Relationship Id="rId14" Type="http://schemas.openxmlformats.org/officeDocument/2006/relationships/slide" Target="slides/slide7.xml"/><Relationship Id="rId15" Type="http://schemas.openxmlformats.org/officeDocument/2006/relationships/slide" Target="slides/slide8.xml"/><Relationship Id="rId16" Type="http://schemas.openxmlformats.org/officeDocument/2006/relationships/slide" Target="slides/slide9.xml"/><Relationship Id="rId17" Type="http://schemas.openxmlformats.org/officeDocument/2006/relationships/slide" Target="slides/slide10.xml"/><Relationship Id="rId18" Type="http://schemas.openxmlformats.org/officeDocument/2006/relationships/slide" Target="slides/slide11.xml"/><Relationship Id="rId19" Type="http://schemas.openxmlformats.org/officeDocument/2006/relationships/slide" Target="slides/slide12.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p="http://schemas.openxmlformats.org/presentationml/2006/main" xmlns:r="http://schemas.openxmlformats.org/officeDocument/2006/relationships">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7200"/>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7200"/>
          </a:xfrm>
          <a:prstGeom prst="rect">
            <a:avLst/>
          </a:prstGeom>
        </p:spPr>
        <p:txBody>
          <a:bodyPr vert="horz" lIns="91440" tIns="45720" rIns="91440" bIns="45720" rtlCol="0"/>
          <a:lstStyle>
            <a:lvl1pPr algn="r">
              <a:defRPr sz="1200"/>
            </a:lvl1pPr>
          </a:lstStyle>
          <a:p>
            <a:fld id="{0F89C1C7-3DCD-1040-A9CF-14679D8B5DDD}" type="datetimeFigureOut">
              <a:rPr lang="en-US" smtClean="0"/>
              <a:t>10/17/16</a:t>
            </a:fld>
            <a:endParaRPr lang="en-US"/>
          </a:p>
        </p:txBody>
      </p:sp>
      <p:sp>
        <p:nvSpPr>
          <p:cNvPr id="4" name="Slide Image Placeholder 3"/>
          <p:cNvSpPr>
            <a:spLocks noGrp="1" noRot="1" noChangeAspect="1"/>
          </p:cNvSpPr>
          <p:nvPr>
            <p:ph type="sldImg" idx="2"/>
          </p:nvPr>
        </p:nvSpPr>
        <p:spPr>
          <a:xfrm>
            <a:off x="1143000" y="685800"/>
            <a:ext cx="4572000" cy="34290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343400"/>
            <a:ext cx="5486400" cy="4114800"/>
          </a:xfrm>
          <a:prstGeom prst="rect">
            <a:avLst/>
          </a:prstGeom>
        </p:spPr>
        <p:txBody>
          <a:bodyPr vert="horz" lIns="91440" tIns="45720" rIns="91440" bIns="45720" rtlCol="0"/>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6" name="Footer Placeholder 5"/>
          <p:cNvSpPr>
            <a:spLocks noGrp="1"/>
          </p:cNvSpPr>
          <p:nvPr>
            <p:ph type="ftr" sz="quarter" idx="4"/>
          </p:nvPr>
        </p:nvSpPr>
        <p:spPr>
          <a:xfrm>
            <a:off x="0" y="8685213"/>
            <a:ext cx="2971800" cy="457200"/>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7200"/>
          </a:xfrm>
          <a:prstGeom prst="rect">
            <a:avLst/>
          </a:prstGeom>
        </p:spPr>
        <p:txBody>
          <a:bodyPr vert="horz" lIns="91440" tIns="45720" rIns="91440" bIns="45720" rtlCol="0" anchor="b"/>
          <a:lstStyle>
            <a:lvl1pPr algn="r">
              <a:defRPr sz="1200"/>
            </a:lvl1pPr>
          </a:lstStyle>
          <a:p>
            <a:fld id="{BB5E49A5-4136-284D-997B-48E1D791AD67}" type="slidenum">
              <a:rPr lang="en-US" smtClean="0"/>
              <a:t>‹#›</a:t>
            </a:fld>
            <a:endParaRPr lang="en-US"/>
          </a:p>
        </p:txBody>
      </p:sp>
    </p:spTree>
    <p:extLst>
      <p:ext uri="{BB962C8B-B14F-4D97-AF65-F5344CB8AC3E}">
        <p14:creationId xmlns:p14="http://schemas.microsoft.com/office/powerpoint/2010/main" val="2623252185"/>
      </p:ext>
    </p:extLst>
  </p:cSld>
  <p:clrMap bg1="lt1" tx1="dk1" bg2="lt2" tx2="dk2" accent1="accent1" accent2="accent2" accent3="accent3" accent4="accent4" accent5="accent5" accent6="accent6" hlink="hlink" folHlink="folHlink"/>
  <p:notesStyle>
    <a:lvl1pPr marL="0" algn="l" defTabSz="457200" rtl="0" eaLnBrk="1" latinLnBrk="0" hangingPunct="1">
      <a:defRPr sz="1200" kern="1200">
        <a:solidFill>
          <a:schemeClr val="tx1"/>
        </a:solidFill>
        <a:latin typeface="+mn-lt"/>
        <a:ea typeface="+mn-ea"/>
        <a:cs typeface="+mn-cs"/>
      </a:defRPr>
    </a:lvl1pPr>
    <a:lvl2pPr marL="457200" algn="l" defTabSz="457200" rtl="0" eaLnBrk="1" latinLnBrk="0" hangingPunct="1">
      <a:defRPr sz="1200" kern="1200">
        <a:solidFill>
          <a:schemeClr val="tx1"/>
        </a:solidFill>
        <a:latin typeface="+mn-lt"/>
        <a:ea typeface="+mn-ea"/>
        <a:cs typeface="+mn-cs"/>
      </a:defRPr>
    </a:lvl2pPr>
    <a:lvl3pPr marL="914400" algn="l" defTabSz="457200" rtl="0" eaLnBrk="1" latinLnBrk="0" hangingPunct="1">
      <a:defRPr sz="1200" kern="1200">
        <a:solidFill>
          <a:schemeClr val="tx1"/>
        </a:solidFill>
        <a:latin typeface="+mn-lt"/>
        <a:ea typeface="+mn-ea"/>
        <a:cs typeface="+mn-cs"/>
      </a:defRPr>
    </a:lvl3pPr>
    <a:lvl4pPr marL="1371600" algn="l" defTabSz="457200" rtl="0" eaLnBrk="1" latinLnBrk="0" hangingPunct="1">
      <a:defRPr sz="1200" kern="1200">
        <a:solidFill>
          <a:schemeClr val="tx1"/>
        </a:solidFill>
        <a:latin typeface="+mn-lt"/>
        <a:ea typeface="+mn-ea"/>
        <a:cs typeface="+mn-cs"/>
      </a:defRPr>
    </a:lvl4pPr>
    <a:lvl5pPr marL="1828800" algn="l" defTabSz="457200" rtl="0" eaLnBrk="1" latinLnBrk="0" hangingPunct="1">
      <a:defRPr sz="1200" kern="1200">
        <a:solidFill>
          <a:schemeClr val="tx1"/>
        </a:solidFill>
        <a:latin typeface="+mn-lt"/>
        <a:ea typeface="+mn-ea"/>
        <a:cs typeface="+mn-cs"/>
      </a:defRPr>
    </a:lvl5pPr>
    <a:lvl6pPr marL="2286000" algn="l" defTabSz="457200" rtl="0" eaLnBrk="1" latinLnBrk="0" hangingPunct="1">
      <a:defRPr sz="1200" kern="1200">
        <a:solidFill>
          <a:schemeClr val="tx1"/>
        </a:solidFill>
        <a:latin typeface="+mn-lt"/>
        <a:ea typeface="+mn-ea"/>
        <a:cs typeface="+mn-cs"/>
      </a:defRPr>
    </a:lvl6pPr>
    <a:lvl7pPr marL="2743200" algn="l" defTabSz="457200" rtl="0" eaLnBrk="1" latinLnBrk="0" hangingPunct="1">
      <a:defRPr sz="1200" kern="1200">
        <a:solidFill>
          <a:schemeClr val="tx1"/>
        </a:solidFill>
        <a:latin typeface="+mn-lt"/>
        <a:ea typeface="+mn-ea"/>
        <a:cs typeface="+mn-cs"/>
      </a:defRPr>
    </a:lvl7pPr>
    <a:lvl8pPr marL="3200400" algn="l" defTabSz="457200" rtl="0" eaLnBrk="1" latinLnBrk="0" hangingPunct="1">
      <a:defRPr sz="1200" kern="1200">
        <a:solidFill>
          <a:schemeClr val="tx1"/>
        </a:solidFill>
        <a:latin typeface="+mn-lt"/>
        <a:ea typeface="+mn-ea"/>
        <a:cs typeface="+mn-cs"/>
      </a:defRPr>
    </a:lvl8pPr>
    <a:lvl9pPr marL="3657600" algn="l" defTabSz="4572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7.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8.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9.xml"/></Relationships>
</file>

<file path=ppt/notesSlides/_rels/notesSlide1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0.xml"/></Relationships>
</file>

<file path=ppt/notesSlides/_rels/notesSlide1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1.xml"/></Relationships>
</file>

<file path=ppt/notesSlides/_rels/notesSlide1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2.xml"/></Relationships>
</file>

<file path=ppt/notesSlides/notesSlide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Opening Script: Good morning, respected course instructors and evaluation committee members. On behalf of my project team members Shottobroto Dey, Golam Husnain Papon, and myself Raisul Islam Likhon from Section SWE-44D, today I am proud to present our Capstone Project 2 proposal: 'RetailSync: Centralized Super Shop Warehouse Management System'. RetailSync addresses a critical engineering problem in the modern trade grocery sector of Bangladesh: the destructive disconnect between frontline retail checkout counters and central distribution warehouses. Over the next 10 minutes, we will demonstrate our problem formulation, grounded objectives, 4-tier architecture, AI replenishment algorithms, and 14-week execution roadmap.</a:t>
            </a:r>
          </a:p>
        </p:txBody>
      </p:sp>
      <p:sp>
        <p:nvSpPr>
          <p:cNvPr id="4" name="Slide Number Placeholder 3"/>
          <p:cNvSpPr>
            <a:spLocks noGrp="1"/>
          </p:cNvSpPr>
          <p:nvPr>
            <p:ph type="sldNum" idx="5" sz="quarter"/>
          </p:nvPr>
        </p:nvSpPr>
        <p:spPr/>
      </p:sp>
    </p:spTree>
  </p:cSld>
  <p:clrMapOvr>
    <a:masterClrMapping/>
  </p:clrMapOvr>
</p:notes>
</file>

<file path=ppt/notesSlides/notesSlide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Slide 2 Script: In Bangladesh, modern grocery chains are growing rapidly, but behind the shiny checkout counters, warehouse operations are fragile. The primary problem is the disconnect between front-of-house POS registers and back-of-house warehouses. This disconnect causes three crippling profit leaks: First, 15% to 22% perishable food and dairy spoilage because staff don't have batch-level expiry tracking. Second, 1.8% to 2.4% phantom shrinkage where the system claims stock exists but the shelf is empty. And third, 7.5% to 11.2% lost sales when high-velocity items sell out during evening and festival rushes. RetailSync directly solves all three.</a:t>
            </a:r>
          </a:p>
        </p:txBody>
      </p:sp>
      <p:sp>
        <p:nvSpPr>
          <p:cNvPr id="4" name="Slide Number Placeholder 3"/>
          <p:cNvSpPr>
            <a:spLocks noGrp="1"/>
          </p:cNvSpPr>
          <p:nvPr>
            <p:ph type="sldNum" idx="5" sz="quarter"/>
          </p:nvPr>
        </p:nvSpPr>
        <p:spPr/>
      </p:sp>
    </p:spTree>
  </p:cSld>
  <p:clrMapOvr>
    <a:masterClrMapping/>
  </p:clrMapOvr>
</p:notes>
</file>

<file path=ppt/notesSlides/notesSlide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Slide 3 Script: To ensure our proposal has defense-grade academic rigor, we did not pick numbers out of thin air. We classified every single claimed metric into three epistemological tiers: First, published literature baselines like the 15% to 22% spoilage reported by the Bangladesh Supermarket Owners Association and UN FAO. Second, empirical engineering SLOs that we will benchmark directly using automated Locust tests—such as our sub-2.0s POS deduction latency and sub-350ms barcode decode. And third, modeled simulation targets like reducing spoilage to under 6% through strict FEFO rotation.</a:t>
            </a:r>
          </a:p>
        </p:txBody>
      </p:sp>
      <p:sp>
        <p:nvSpPr>
          <p:cNvPr id="4" name="Slide Number Placeholder 3"/>
          <p:cNvSpPr>
            <a:spLocks noGrp="1"/>
          </p:cNvSpPr>
          <p:nvPr>
            <p:ph type="sldNum" idx="5" sz="quarter"/>
          </p:nvPr>
        </p:nvSpPr>
        <p:spPr/>
      </p:sp>
    </p:spTree>
  </p:cSld>
  <p:clrMapOvr>
    <a:masterClrMapping/>
  </p:clrMapOvr>
</p:notes>
</file>

<file path=ppt/notesSlides/notesSlide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Slide 4 Script: Our five SMART objectives are engineered to be verifiable: O-01 targets sub-2.0s POS concurrency with non-blocking row locks (SKIP LOCKED) and zero overselling, verified by Locust load tests in Sprint 4. O-02 enforces automated FEFO batch rotation and a 3-day food safety quarantine lock in Sprint 3. O-03 introduces our AI demand forecasting engine using CatBoost with native festival calendar embeddings in Sprint 5. O-04 proves our frugal smartphone scanning model with sub-350ms decode in Sprint 2. And O-05 delivers offline resilience by buffering up to 200 sales in client IndexedDB during broadband dropouts.</a:t>
            </a:r>
          </a:p>
        </p:txBody>
      </p:sp>
      <p:sp>
        <p:nvSpPr>
          <p:cNvPr id="4" name="Slide Number Placeholder 3"/>
          <p:cNvSpPr>
            <a:spLocks noGrp="1"/>
          </p:cNvSpPr>
          <p:nvPr>
            <p:ph type="sldNum" idx="5" sz="quarter"/>
          </p:nvPr>
        </p:nvSpPr>
        <p:spPr/>
      </p:sp>
    </p:spTree>
  </p:cSld>
  <p:clrMapOvr>
    <a:masterClrMapping/>
  </p:clrMapOvr>
</p:notes>
</file>

<file path=ppt/notesSlides/notesSlide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Slide 5 Script: A major flaw in student capstone proposals is scope creep—promising to build everything from accounting to robotics. In RetailSync, we defined a strict 4-Quadrant scope matrix. In Quadrant 1 and 3, we define our core WMS features and technical stack. In Quadrant 2, we bound our pilot to 1 central warehouse, 3 branch stores, 500 SKUs, and 10 concurrent POS registers. And crucially, in Quadrant 4, we explicitly exclude full accounting ERP modules, physical AGV robotics, and merchant banking gateways. This ensures our 14-week effort is 100% focused on core warehouse operations and database concurrency.</a:t>
            </a:r>
          </a:p>
        </p:txBody>
      </p:sp>
      <p:sp>
        <p:nvSpPr>
          <p:cNvPr id="4" name="Slide Number Placeholder 3"/>
          <p:cNvSpPr>
            <a:spLocks noGrp="1"/>
          </p:cNvSpPr>
          <p:nvPr>
            <p:ph type="sldNum" idx="5" sz="quarter"/>
          </p:nvPr>
        </p:nvSpPr>
        <p:spPr/>
      </p:sp>
    </p:spTree>
  </p:cSld>
  <p:clrMapOvr>
    <a:masterClrMapping/>
  </p:clrMapOvr>
</p:notes>
</file>

<file path=ppt/notesSlides/notesSlide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Slide 6 Script: Here is our Figure 1: 4-Tier Cyber-Physical System Architecture. At Tier 1, our Next.js PWA runs on warehouse smartphones and POS registers. It uses Service Workers and IndexedDB for offline buffering. At Tier 2, an Nginx reverse proxy handles TLS 1.3 termination, JWT authentication, and edge rate-limiting. At Tier 3, our asynchronous FastAPI backend processes business logic, while background Celery workers execute CatBoost forecasting. At Tier 4, PostgreSQL 16 guarantees ACID double-entry inventory transactions with non-blocking row locks (SKIP LOCKED), and Redis 7 caches client-generated idempotency keys.</a:t>
            </a:r>
          </a:p>
        </p:txBody>
      </p:sp>
      <p:sp>
        <p:nvSpPr>
          <p:cNvPr id="4" name="Slide Number Placeholder 3"/>
          <p:cNvSpPr>
            <a:spLocks noGrp="1"/>
          </p:cNvSpPr>
          <p:nvPr>
            <p:ph type="sldNum" idx="5" sz="quarter"/>
          </p:nvPr>
        </p:nvSpPr>
        <p:spPr/>
      </p:sp>
    </p:spTree>
  </p:cSld>
  <p:clrMapOvr>
    <a:masterClrMapping/>
  </p:clrMapOvr>
</p:notes>
</file>

<file path=ppt/notesSlides/notesSlide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Slide 7 Script: Figure 2 maps the physical journey of grocery items across 7 integrated stages. When delivery trucks arrive, cartons are barcode-scanned against open POs, logging expiration dates and generating digital GRNs. The system calculates directed putaway bin locations based on temperature and SKU turnover velocity. Batches enter an active FEFO priority queue. When checkout registers ring up sales, row-level locks deduct stock from the earliest batch in under 800ms. Finally, continuous blind cycle counts catch shrinkage before quarterly audits.</a:t>
            </a:r>
          </a:p>
        </p:txBody>
      </p:sp>
      <p:sp>
        <p:nvSpPr>
          <p:cNvPr id="4" name="Slide Number Placeholder 3"/>
          <p:cNvSpPr>
            <a:spLocks noGrp="1"/>
          </p:cNvSpPr>
          <p:nvPr>
            <p:ph type="sldNum" idx="5" sz="quarter"/>
          </p:nvPr>
        </p:nvSpPr>
        <p:spPr/>
      </p:sp>
    </p:spTree>
  </p:cSld>
  <p:clrMapOvr>
    <a:masterClrMapping/>
  </p:clrMapOvr>
</p:notes>
</file>

<file path=ppt/notesSlides/notesSlide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Slide 8 Script: Figure 3 illustrates our machine learning replenishment pipeline. Standard inventory formulas assume demand is static, which is why supermarkets run out of soybean oil during Ramadan. RetailSync deploys a CatBoost regressor trained on POS sales. We feed it lag features and native categorical embeddings for Ramadan, Eid, and payday cycles. The model outputs predicted daily demand (d_hat). We then plug d_hat directly into Greasley's statistical safety stock equation. This dynamically raises reorder points 10 days before a festival rush, preventing stockouts without over-ordering after the holiday.</a:t>
            </a:r>
          </a:p>
        </p:txBody>
      </p:sp>
      <p:sp>
        <p:nvSpPr>
          <p:cNvPr id="4" name="Slide Number Placeholder 3"/>
          <p:cNvSpPr>
            <a:spLocks noGrp="1"/>
          </p:cNvSpPr>
          <p:nvPr>
            <p:ph type="sldNum" idx="5" sz="quarter"/>
          </p:nvPr>
        </p:nvSpPr>
        <p:spPr/>
      </p:sp>
    </p:spTree>
  </p:cSld>
  <p:clrMapOvr>
    <a:masterClrMapping/>
  </p:clrMapOvr>
</p:notes>
</file>

<file path=ppt/notesSlides/notesSlide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Slide 9 Script: On this slide, we address two practical implementation realities: database concurrency and hardware affordability. On the left, we show our PostgreSQL row-level locking query using SELECT ... FOR UPDATE. When multiple cashiers scan the last milk carton, Lane 1 acquires the lock, commits, and Lanes 2 and 3 receive an immediate HTTP 409 Conflict. There are zero deadlocks and zero overselling. On the right, we highlight our frugal hardware model: instead of buying 60,000 BDT Zebra scanners, RetailSync runs on 12,000 BDT Android phones paired with 3,800 BDT Bluetooth barcode grips, cutting frontline hardware capex by nearly 90% while achieving sub-350ms scan speeds.</a:t>
            </a:r>
          </a:p>
        </p:txBody>
      </p:sp>
      <p:sp>
        <p:nvSpPr>
          <p:cNvPr id="4" name="Slide Number Placeholder 3"/>
          <p:cNvSpPr>
            <a:spLocks noGrp="1"/>
          </p:cNvSpPr>
          <p:nvPr>
            <p:ph type="sldNum" idx="5" sz="quarter"/>
          </p:nvPr>
        </p:nvSpPr>
        <p:spPr/>
      </p:sp>
    </p:spTree>
  </p:cSld>
  <p:clrMapOvr>
    <a:masterClrMapping/>
  </p:clrMapOvr>
</p:notes>
</file>

<file path=ppt/notesSlides/notesSlide1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Slide 10 Script: Figure 4 presents our 14-week Agile Scrum Gantt roadmap across six 2-week sprints and a final hardening phase (137 total story points). Crucially, sprint completion is verified against four concrete, stress-injected supermarket scenarios: Scenario A in Sprint 2 tests dock rejection of short-dated milk. Scenario B and C in Sprint 4 test rush-hour POS concurrency and offline sales caching during network blackouts. And Scenario D in Sprint 5 tests advance replenishment ordering before Ramadan. Every sprint deliverable is testable.</a:t>
            </a:r>
          </a:p>
        </p:txBody>
      </p:sp>
      <p:sp>
        <p:nvSpPr>
          <p:cNvPr id="4" name="Slide Number Placeholder 3"/>
          <p:cNvSpPr>
            <a:spLocks noGrp="1"/>
          </p:cNvSpPr>
          <p:nvPr>
            <p:ph type="sldNum" idx="5" sz="quarter"/>
          </p:nvPr>
        </p:nvSpPr>
        <p:spPr/>
      </p:sp>
    </p:spTree>
  </p:cSld>
  <p:clrMapOvr>
    <a:masterClrMapping/>
  </p:clrMapOvr>
</p:notes>
</file>

<file path=ppt/notesSlides/notesSlide1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Slide 11 Script: On this slide, we present two budgets: our student hardware prototype cost and the commercial ROI for a real retail chain. Our capstone prototype budget is realistic and self-funded at 34,050 BDT, covering an Android test smartphone, two Bluetooth trigger grips, a thermal label printer, labels, and 6 months of cloud staging. For a real 3-store supermarket cluster, RetailSync delivers 4.61M BDT in annual net benefit from prevented spoilage and recaptured stockouts, achieving a full capital payback period in just 2.8 months.</a:t>
            </a:r>
          </a:p>
        </p:txBody>
      </p:sp>
      <p:sp>
        <p:nvSpPr>
          <p:cNvPr id="4" name="Slide Number Placeholder 3"/>
          <p:cNvSpPr>
            <a:spLocks noGrp="1"/>
          </p:cNvSpPr>
          <p:nvPr>
            <p:ph type="sldNum" idx="5" sz="quarter"/>
          </p:nvPr>
        </p:nvSpPr>
        <p:spPr/>
      </p:sp>
    </p:spTree>
  </p:cSld>
  <p:clrMapOvr>
    <a:masterClrMapping/>
  </p:clrMapOvr>
</p:notes>
</file>

<file path=ppt/notesSlides/notesSlide1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Closing Script: In conclusion, RetailSync bridges the gap between frontline checkouts and central warehouses with rigorous database concurrency, automated FEFO food safety compliance, and AI demand forecasting, all while keeping hardware costs under 16,000 BDT per station. We have established a comprehensive 14-week Agile plan with testable scenario gates. I now welcome your questions, and I am ready to demonstrate our live POS concurrency and safety stock simulator in the browser. Thank you!</a:t>
            </a:r>
          </a:p>
        </p:txBody>
      </p:sp>
      <p:sp>
        <p:nvSpPr>
          <p:cNvPr id="4" name="Slide Number Placeholder 3"/>
          <p:cNvSpPr>
            <a:spLocks noGrp="1"/>
          </p:cNvSpPr>
          <p:nvPr>
            <p:ph type="sldNum" idx="5" sz="quarter"/>
          </p:nvPr>
        </p:nvSpPr>
        <p:spPr/>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5BCAD085-E8A6-8845-BD4E-CB4CCA059FC4}" type="datetimeFigureOut">
              <a:rPr lang="en-US" smtClean="0"/>
              <a:t>1/27/13</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5BCAD085-E8A6-8845-BD4E-CB4CCA059FC4}" type="datetimeFigureOut">
              <a:rPr lang="en-US" smtClean="0"/>
              <a:t>1/27/13</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1/27/13</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1/27/13</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jpg"/><Relationship Id="rId3"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2.png"/><Relationship Id="rId3"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3.png"/><Relationship Id="rId3"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4.png"/><Relationship Id="rId3"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5.png"/><Relationship Id="rId3"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2.xml"/></Relationships>
</file>

<file path=ppt/slides/slide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0F172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ounded Rectangle 2"/>
          <p:cNvSpPr/>
          <p:nvPr/>
        </p:nvSpPr>
        <p:spPr>
          <a:xfrm>
            <a:off x="731520" y="594360"/>
            <a:ext cx="10728655" cy="960120"/>
          </a:xfrm>
          <a:prstGeom prst="roundRect">
            <a:avLst/>
          </a:prstGeom>
          <a:solidFill>
            <a:srgbClr val="182235"/>
          </a:solidFill>
          <a:ln w="12700">
            <a:solidFill>
              <a:srgbClr val="0EA5E9"/>
            </a:solidFill>
          </a:ln>
        </p:spPr>
        <p:style>
          <a:lnRef idx="1">
            <a:schemeClr val="accent1"/>
          </a:lnRef>
          <a:fillRef idx="3">
            <a:schemeClr val="accent1"/>
          </a:fillRef>
          <a:effectRef idx="2">
            <a:schemeClr val="accent1"/>
          </a:effectRef>
          <a:fontRef idx="minor">
            <a:schemeClr val="lt1"/>
          </a:fontRef>
        </p:style>
        <p:txBody>
          <a:bodyPr rtlCol="0" anchor="ctr" wrap="square" lIns="88900" rIns="88900" tIns="88900" bIns="88900"/>
          <a:lstStyle/>
          <a:p>
            <a:pPr algn="ctr">
              <a:defRPr sz="1550" b="1">
                <a:solidFill>
                  <a:srgbClr val="0EA5E9"/>
                </a:solidFill>
                <a:latin typeface="Calibri"/>
              </a:defRPr>
            </a:pPr>
            <a:r>
              <a:t>DAFFODIL INTERNATIONAL UNIVERSITY • FACULTY OF SCIENCE &amp; INFORMATION TECHNOLOGY</a:t>
            </a:r>
          </a:p>
          <a:p>
            <a:pPr algn="ctr">
              <a:defRPr sz="1300">
                <a:solidFill>
                  <a:srgbClr val="94A3B8"/>
                </a:solidFill>
                <a:latin typeface="Calibri"/>
              </a:defRPr>
            </a:pPr>
            <a:r>
              <a:t>Department of Software Engineering | Course: SE-231 (Software System Analysis &amp; Design / Capstone Project 2)</a:t>
            </a:r>
          </a:p>
        </p:txBody>
      </p:sp>
      <p:pic>
        <p:nvPicPr>
          <p:cNvPr id="4" name="Picture 3" descr="retailsync_logo.png"/>
          <p:cNvPicPr>
            <a:picLocks noChangeAspect="1"/>
          </p:cNvPicPr>
          <p:nvPr/>
        </p:nvPicPr>
        <p:blipFill>
          <a:blip r:embed="rId2"/>
          <a:stretch>
            <a:fillRect/>
          </a:stretch>
        </p:blipFill>
        <p:spPr>
          <a:xfrm>
            <a:off x="9784080" y="1737360"/>
            <a:ext cx="1645920" cy="1645920"/>
          </a:xfrm>
          <a:prstGeom prst="rect">
            <a:avLst/>
          </a:prstGeom>
        </p:spPr>
      </p:pic>
      <p:sp>
        <p:nvSpPr>
          <p:cNvPr id="5" name="TextBox 4"/>
          <p:cNvSpPr txBox="1"/>
          <p:nvPr/>
        </p:nvSpPr>
        <p:spPr>
          <a:xfrm>
            <a:off x="731520" y="1737360"/>
            <a:ext cx="8778240" cy="2103120"/>
          </a:xfrm>
          <a:prstGeom prst="rect">
            <a:avLst/>
          </a:prstGeom>
          <a:noFill/>
        </p:spPr>
        <p:txBody>
          <a:bodyPr wrap="square" lIns="0" tIns="0" rIns="0" bIns="0">
            <a:spAutoFit/>
          </a:bodyPr>
          <a:lstStyle/>
          <a:p>
            <a:pPr>
              <a:spcAft>
                <a:spcPts val="400"/>
              </a:spcAft>
              <a:defRPr sz="1500" b="1">
                <a:solidFill>
                  <a:srgbClr val="10B981"/>
                </a:solidFill>
                <a:latin typeface="Calibri"/>
              </a:defRPr>
            </a:pPr>
            <a:r>
              <a:t>CAPSTONE PROJECT PROPOSAL DEFENSE • FALL 2026</a:t>
            </a:r>
          </a:p>
          <a:p>
            <a:pPr>
              <a:spcAft>
                <a:spcPts val="400"/>
              </a:spcAft>
              <a:defRPr sz="3200" b="1">
                <a:solidFill>
                  <a:srgbClr val="FFFFFF"/>
                </a:solidFill>
                <a:latin typeface="Calibri"/>
              </a:defRPr>
            </a:pPr>
            <a:r>
              <a:t>RetailSync: Centralized Super Shop Warehouse Management System</a:t>
            </a:r>
          </a:p>
          <a:p>
            <a:pPr>
              <a:defRPr sz="1700">
                <a:solidFill>
                  <a:srgbClr val="38BDF8"/>
                </a:solidFill>
                <a:latin typeface="Calibri"/>
              </a:defRPr>
            </a:pPr>
            <a:r>
              <a:t>Real-Time POS Concurrency, Dynamic Putaway, FEFO Batch Tracking, and AI-Driven Replenishment</a:t>
            </a:r>
          </a:p>
        </p:txBody>
      </p:sp>
      <p:sp>
        <p:nvSpPr>
          <p:cNvPr id="6" name="Rounded Rectangle 5"/>
          <p:cNvSpPr/>
          <p:nvPr/>
        </p:nvSpPr>
        <p:spPr>
          <a:xfrm>
            <a:off x="731520" y="3977639"/>
            <a:ext cx="3413455" cy="1051560"/>
          </a:xfrm>
          <a:prstGeom prst="roundRect">
            <a:avLst/>
          </a:prstGeom>
          <a:solidFill>
            <a:srgbClr val="1E293B"/>
          </a:solidFill>
          <a:ln w="12700">
            <a:solidFill>
              <a:srgbClr val="0EA5E9"/>
            </a:solidFill>
          </a:ln>
        </p:spPr>
        <p:style>
          <a:lnRef idx="1">
            <a:schemeClr val="accent1"/>
          </a:lnRef>
          <a:fillRef idx="3">
            <a:schemeClr val="accent1"/>
          </a:fillRef>
          <a:effectRef idx="2">
            <a:schemeClr val="accent1"/>
          </a:effectRef>
          <a:fontRef idx="minor">
            <a:schemeClr val="lt1"/>
          </a:fontRef>
        </p:style>
        <p:txBody>
          <a:bodyPr rtlCol="0" anchor="ctr" wrap="square" lIns="88900" rIns="88900" tIns="88900" bIns="88900"/>
          <a:lstStyle/>
          <a:p>
            <a:pPr algn="ctr">
              <a:defRPr sz="1800" b="1">
                <a:solidFill>
                  <a:srgbClr val="0EA5E9"/>
                </a:solidFill>
                <a:latin typeface="Calibri"/>
              </a:defRPr>
            </a:pPr>
            <a:r>
              <a:t>Sub-2.0s POS Latency</a:t>
            </a:r>
          </a:p>
          <a:p>
            <a:pPr>
              <a:defRPr sz="1400">
                <a:solidFill>
                  <a:srgbClr val="FFFFFF"/>
                </a:solidFill>
                <a:latin typeface="Calibri"/>
              </a:defRPr>
            </a:pPr>
            <a:r>
              <a:t>p95 ≤ 800ms • Zero Oversell</a:t>
            </a:r>
          </a:p>
        </p:txBody>
      </p:sp>
      <p:sp>
        <p:nvSpPr>
          <p:cNvPr id="7" name="Rounded Rectangle 6"/>
          <p:cNvSpPr/>
          <p:nvPr/>
        </p:nvSpPr>
        <p:spPr>
          <a:xfrm>
            <a:off x="4389120" y="3977639"/>
            <a:ext cx="3413455" cy="1051560"/>
          </a:xfrm>
          <a:prstGeom prst="roundRect">
            <a:avLst/>
          </a:prstGeom>
          <a:solidFill>
            <a:srgbClr val="1E293B"/>
          </a:solidFill>
          <a:ln w="12700">
            <a:solidFill>
              <a:srgbClr val="10B981"/>
            </a:solidFill>
          </a:ln>
        </p:spPr>
        <p:style>
          <a:lnRef idx="1">
            <a:schemeClr val="accent1"/>
          </a:lnRef>
          <a:fillRef idx="3">
            <a:schemeClr val="accent1"/>
          </a:fillRef>
          <a:effectRef idx="2">
            <a:schemeClr val="accent1"/>
          </a:effectRef>
          <a:fontRef idx="minor">
            <a:schemeClr val="lt1"/>
          </a:fontRef>
        </p:style>
        <p:txBody>
          <a:bodyPr rtlCol="0" anchor="ctr" wrap="square" lIns="88900" rIns="88900" tIns="88900" bIns="88900"/>
          <a:lstStyle/>
          <a:p>
            <a:pPr algn="ctr">
              <a:defRPr sz="1800" b="1">
                <a:solidFill>
                  <a:srgbClr val="10B981"/>
                </a:solidFill>
                <a:latin typeface="Calibri"/>
              </a:defRPr>
            </a:pPr>
            <a:r>
              <a:t>&lt; 16,000 BDT Hardware</a:t>
            </a:r>
          </a:p>
          <a:p>
            <a:pPr>
              <a:defRPr sz="1400">
                <a:solidFill>
                  <a:srgbClr val="FFFFFF"/>
                </a:solidFill>
                <a:latin typeface="Calibri"/>
              </a:defRPr>
            </a:pPr>
            <a:r>
              <a:t>90% Capex Cut vs Zebra TC52</a:t>
            </a:r>
          </a:p>
        </p:txBody>
      </p:sp>
      <p:sp>
        <p:nvSpPr>
          <p:cNvPr id="8" name="Rounded Rectangle 7"/>
          <p:cNvSpPr/>
          <p:nvPr/>
        </p:nvSpPr>
        <p:spPr>
          <a:xfrm>
            <a:off x="8046720" y="3977639"/>
            <a:ext cx="3413455" cy="1051560"/>
          </a:xfrm>
          <a:prstGeom prst="roundRect">
            <a:avLst/>
          </a:prstGeom>
          <a:solidFill>
            <a:srgbClr val="1E293B"/>
          </a:solidFill>
          <a:ln w="12700">
            <a:solidFill>
              <a:srgbClr val="F59E0B"/>
            </a:solidFill>
          </a:ln>
        </p:spPr>
        <p:style>
          <a:lnRef idx="1">
            <a:schemeClr val="accent1"/>
          </a:lnRef>
          <a:fillRef idx="3">
            <a:schemeClr val="accent1"/>
          </a:fillRef>
          <a:effectRef idx="2">
            <a:schemeClr val="accent1"/>
          </a:effectRef>
          <a:fontRef idx="minor">
            <a:schemeClr val="lt1"/>
          </a:fontRef>
        </p:style>
        <p:txBody>
          <a:bodyPr rtlCol="0" anchor="ctr" wrap="square" lIns="88900" rIns="88900" tIns="88900" bIns="88900"/>
          <a:lstStyle/>
          <a:p>
            <a:pPr algn="ctr">
              <a:defRPr sz="1800" b="1">
                <a:solidFill>
                  <a:srgbClr val="F59E0B"/>
                </a:solidFill>
                <a:latin typeface="Calibri"/>
              </a:defRPr>
            </a:pPr>
            <a:r>
              <a:t>14-Week Scrum Plan</a:t>
            </a:r>
          </a:p>
          <a:p>
            <a:pPr>
              <a:defRPr sz="1400">
                <a:solidFill>
                  <a:srgbClr val="FFFFFF"/>
                </a:solidFill>
                <a:latin typeface="Calibri"/>
              </a:defRPr>
            </a:pPr>
            <a:r>
              <a:t>6 Sprints • 4 Validation Scenarios</a:t>
            </a:r>
          </a:p>
        </p:txBody>
      </p:sp>
      <p:sp>
        <p:nvSpPr>
          <p:cNvPr id="9" name="Rounded Rectangle 8"/>
          <p:cNvSpPr/>
          <p:nvPr/>
        </p:nvSpPr>
        <p:spPr>
          <a:xfrm>
            <a:off x="731520" y="5166360"/>
            <a:ext cx="10728655" cy="1143000"/>
          </a:xfrm>
          <a:prstGeom prst="roundRect">
            <a:avLst/>
          </a:prstGeom>
          <a:solidFill>
            <a:srgbClr val="182235"/>
          </a:solidFill>
          <a:ln w="12700">
            <a:solidFill>
              <a:srgbClr val="334155"/>
            </a:solidFill>
          </a:ln>
        </p:spPr>
        <p:style>
          <a:lnRef idx="1">
            <a:schemeClr val="accent1"/>
          </a:lnRef>
          <a:fillRef idx="3">
            <a:schemeClr val="accent1"/>
          </a:fillRef>
          <a:effectRef idx="2">
            <a:schemeClr val="accent1"/>
          </a:effectRef>
          <a:fontRef idx="minor">
            <a:schemeClr val="lt1"/>
          </a:fontRef>
        </p:style>
        <p:txBody>
          <a:bodyPr rtlCol="0" anchor="ctr" wrap="square" lIns="88900" rIns="88900" tIns="88900" bIns="88900"/>
          <a:lstStyle/>
          <a:p>
            <a:pPr algn="ctr">
              <a:defRPr sz="1600" b="1">
                <a:solidFill>
                  <a:srgbClr val="0EA5E9"/>
                </a:solidFill>
                <a:latin typeface="Calibri"/>
              </a:defRPr>
            </a:pPr>
            <a:r>
              <a:t>Project Team: Raisul Islam Likhon (Lead: 251-35-508)  •  Shottobroto Dey (251-35-017)  •  Golam Husnain Papon (251-35-529)</a:t>
            </a:r>
          </a:p>
          <a:p>
            <a:pPr>
              <a:defRPr sz="1350">
                <a:solidFill>
                  <a:srgbClr val="FFFFFF"/>
                </a:solidFill>
                <a:latin typeface="Calibri"/>
              </a:defRPr>
            </a:pPr>
            <a:r>
              <a:t>Section: SWE-44D (44th Batch)  •  Department of Software Engineering  •  Daffodil International University (DIU)</a:t>
            </a:r>
          </a:p>
        </p:txBody>
      </p:sp>
    </p:spTree>
  </p:cSld>
  <p:clrMapOvr>
    <a:masterClrMapping/>
  </p:clrMapOvr>
</p:sld>
</file>

<file path=ppt/slides/slide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0F172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731520" y="320040"/>
            <a:ext cx="10728655" cy="1051560"/>
          </a:xfrm>
          <a:prstGeom prst="rect">
            <a:avLst/>
          </a:prstGeom>
          <a:noFill/>
        </p:spPr>
        <p:txBody>
          <a:bodyPr wrap="square" lIns="0" tIns="0" rIns="0" bIns="0">
            <a:spAutoFit/>
          </a:bodyPr>
          <a:lstStyle/>
          <a:p>
            <a:pPr>
              <a:spcAft>
                <a:spcPts val="200"/>
              </a:spcAft>
              <a:defRPr sz="1400" b="1">
                <a:solidFill>
                  <a:srgbClr val="0EA5E9"/>
                </a:solidFill>
                <a:latin typeface="Calibri"/>
              </a:defRPr>
            </a:pPr>
            <a:r>
              <a:t>PROBLEM STATEMENT &amp; CONTEXT</a:t>
            </a:r>
          </a:p>
          <a:p>
            <a:pPr>
              <a:defRPr sz="3000" b="1">
                <a:solidFill>
                  <a:srgbClr val="FFFFFF"/>
                </a:solidFill>
                <a:latin typeface="Calibri"/>
              </a:defRPr>
            </a:pPr>
            <a:r>
              <a:t>Industry Problem: Disconnected Supermarkets &amp; 3 Critical Profit Leaks</a:t>
            </a:r>
          </a:p>
        </p:txBody>
      </p:sp>
      <p:sp>
        <p:nvSpPr>
          <p:cNvPr id="4" name="TextBox 3"/>
          <p:cNvSpPr txBox="1"/>
          <p:nvPr/>
        </p:nvSpPr>
        <p:spPr>
          <a:xfrm>
            <a:off x="731520" y="6400800"/>
            <a:ext cx="10728655" cy="365760"/>
          </a:xfrm>
          <a:prstGeom prst="rect">
            <a:avLst/>
          </a:prstGeom>
          <a:noFill/>
        </p:spPr>
        <p:txBody>
          <a:bodyPr wrap="none" lIns="0" tIns="0" rIns="0" bIns="0">
            <a:spAutoFit/>
          </a:bodyPr>
          <a:lstStyle/>
          <a:p>
            <a:pPr>
              <a:defRPr sz="1200">
                <a:solidFill>
                  <a:srgbClr val="94A3B8"/>
                </a:solidFill>
                <a:latin typeface="Calibri"/>
              </a:defRPr>
            </a:pPr>
            <a:r>
              <a:t>RetailSync (SE-231 Capstone Project 2) • Department of Software Engineering, Daffodil International University | Slide 2 of 12</a:t>
            </a:r>
          </a:p>
        </p:txBody>
      </p:sp>
      <p:sp>
        <p:nvSpPr>
          <p:cNvPr id="5" name="Rounded Rectangle 4"/>
          <p:cNvSpPr/>
          <p:nvPr/>
        </p:nvSpPr>
        <p:spPr>
          <a:xfrm>
            <a:off x="731520" y="1463040"/>
            <a:ext cx="4754880" cy="4663440"/>
          </a:xfrm>
          <a:prstGeom prst="roundRect">
            <a:avLst/>
          </a:prstGeom>
          <a:solidFill>
            <a:srgbClr val="1E293B"/>
          </a:solidFill>
          <a:ln w="12700">
            <a:solidFill>
              <a:srgbClr val="334155"/>
            </a:solidFill>
          </a:ln>
        </p:spPr>
        <p:style>
          <a:lnRef idx="1">
            <a:schemeClr val="accent1"/>
          </a:lnRef>
          <a:fillRef idx="3">
            <a:schemeClr val="accent1"/>
          </a:fillRef>
          <a:effectRef idx="2">
            <a:schemeClr val="accent1"/>
          </a:effectRef>
          <a:fontRef idx="minor">
            <a:schemeClr val="lt1"/>
          </a:fontRef>
        </p:style>
        <p:txBody>
          <a:bodyPr rtlCol="0" anchor="ctr" wrap="square" lIns="88900" rIns="88900" tIns="88900" bIns="88900"/>
          <a:lstStyle/>
          <a:p>
            <a:pPr algn="ctr">
              <a:spcAft>
                <a:spcPts val="800"/>
              </a:spcAft>
              <a:defRPr sz="2000" b="1">
                <a:solidFill>
                  <a:srgbClr val="0EA5E9"/>
                </a:solidFill>
                <a:latin typeface="Calibri"/>
              </a:defRPr>
            </a:pPr>
            <a:r>
              <a:t>The Modern Retail Landscape in Bangladesh</a:t>
            </a:r>
          </a:p>
          <a:p>
            <a:pPr>
              <a:spcAft>
                <a:spcPts val="400"/>
              </a:spcAft>
              <a:defRPr sz="1350">
                <a:solidFill>
                  <a:srgbClr val="FFFFFF"/>
                </a:solidFill>
                <a:latin typeface="Calibri"/>
              </a:defRPr>
            </a:pPr>
            <a:r>
              <a:t>• Rapid Urban Expansion: ~65.2M urban citizens (39.7% national share, BBS 2022) increasingly rely on modern supermarkets like Shwapno (450+ outlets), Agora, Meena Bazar, and Unimart.</a:t>
            </a:r>
          </a:p>
          <a:p>
            <a:pPr>
              <a:spcAft>
                <a:spcPts val="400"/>
              </a:spcAft>
              <a:defRPr sz="1350">
                <a:solidFill>
                  <a:srgbClr val="FFFFFF"/>
                </a:solidFill>
                <a:latin typeface="Calibri"/>
              </a:defRPr>
            </a:pPr>
            <a:r>
              <a:t>• Frontline vs Back-office Chasm: POS billing counters have modernized, but back-of-house warehouses still operate on paper manifests, pen-and-paper clipboards, and delayed manual Excel sheets.</a:t>
            </a:r>
          </a:p>
          <a:p>
            <a:pPr>
              <a:spcAft>
                <a:spcPts val="400"/>
              </a:spcAft>
              <a:defRPr sz="1350">
                <a:solidFill>
                  <a:srgbClr val="FFFFFF"/>
                </a:solidFill>
                <a:latin typeface="Calibri"/>
              </a:defRPr>
            </a:pPr>
            <a:r>
              <a:t>• Batch Blindness: Standard POS software tracks only bulk SKU numbers. When shelves are restocked, newer milk or oil cartons are stacked in front, leaving older batches rotting at the back.</a:t>
            </a:r>
          </a:p>
          <a:p>
            <a:pPr>
              <a:spcAft>
                <a:spcPts val="400"/>
              </a:spcAft>
              <a:defRPr sz="1350">
                <a:solidFill>
                  <a:srgbClr val="FFFFFF"/>
                </a:solidFill>
                <a:latin typeface="Calibri"/>
              </a:defRPr>
            </a:pPr>
            <a:r>
              <a:t>• Delayed Replenishment: Reorder decisions take 6 to 12 hours to reach central warehouses, causing severe stockouts during peak Friday and Ramadan shopping rushes.</a:t>
            </a:r>
          </a:p>
        </p:txBody>
      </p:sp>
      <p:sp>
        <p:nvSpPr>
          <p:cNvPr id="6" name="Rounded Rectangle 5"/>
          <p:cNvSpPr/>
          <p:nvPr/>
        </p:nvSpPr>
        <p:spPr>
          <a:xfrm>
            <a:off x="5760720" y="1463040"/>
            <a:ext cx="5669280" cy="1463040"/>
          </a:xfrm>
          <a:prstGeom prst="roundRect">
            <a:avLst/>
          </a:prstGeom>
          <a:solidFill>
            <a:srgbClr val="1E293B"/>
          </a:solidFill>
          <a:ln w="12700">
            <a:solidFill>
              <a:srgbClr val="F43F5E"/>
            </a:solidFill>
          </a:ln>
        </p:spPr>
        <p:style>
          <a:lnRef idx="1">
            <a:schemeClr val="accent1"/>
          </a:lnRef>
          <a:fillRef idx="3">
            <a:schemeClr val="accent1"/>
          </a:fillRef>
          <a:effectRef idx="2">
            <a:schemeClr val="accent1"/>
          </a:effectRef>
          <a:fontRef idx="minor">
            <a:schemeClr val="lt1"/>
          </a:fontRef>
        </p:style>
        <p:txBody>
          <a:bodyPr rtlCol="0" anchor="ctr" wrap="square" lIns="88900" rIns="88900" tIns="88900" bIns="88900"/>
          <a:lstStyle/>
          <a:p>
            <a:pPr algn="ctr">
              <a:defRPr sz="1350" b="1">
                <a:solidFill>
                  <a:srgbClr val="F43F5E"/>
                </a:solidFill>
                <a:latin typeface="Calibri"/>
              </a:defRPr>
            </a:pPr>
            <a:r>
              <a:t>LEAK 1: EXPIRY WASTE</a:t>
            </a:r>
          </a:p>
          <a:p>
            <a:pPr>
              <a:defRPr sz="1750" b="1">
                <a:solidFill>
                  <a:srgbClr val="FFFFFF"/>
                </a:solidFill>
                <a:latin typeface="Calibri"/>
              </a:defRPr>
            </a:pPr>
            <a:r>
              <a:t>15% to 22% Perishable Food &amp; Dairy Spoilage</a:t>
            </a:r>
          </a:p>
          <a:p>
            <a:pPr>
              <a:defRPr sz="1350">
                <a:solidFill>
                  <a:srgbClr val="94A3B8"/>
                </a:solidFill>
                <a:latin typeface="Calibri"/>
              </a:defRPr>
            </a:pPr>
            <a:r>
              <a:t>Older batches rot unnoticed at the rear of shelves due to lack of FEFO batch tracking. Selling expired milk violates the Bangladesh Food Safety Act 2013 and causes millions in losses.</a:t>
            </a:r>
          </a:p>
        </p:txBody>
      </p:sp>
      <p:sp>
        <p:nvSpPr>
          <p:cNvPr id="7" name="Rounded Rectangle 6"/>
          <p:cNvSpPr/>
          <p:nvPr/>
        </p:nvSpPr>
        <p:spPr>
          <a:xfrm>
            <a:off x="5760720" y="3063240"/>
            <a:ext cx="5669280" cy="1463040"/>
          </a:xfrm>
          <a:prstGeom prst="roundRect">
            <a:avLst/>
          </a:prstGeom>
          <a:solidFill>
            <a:srgbClr val="1E293B"/>
          </a:solidFill>
          <a:ln w="12700">
            <a:solidFill>
              <a:srgbClr val="F59E0B"/>
            </a:solidFill>
          </a:ln>
        </p:spPr>
        <p:style>
          <a:lnRef idx="1">
            <a:schemeClr val="accent1"/>
          </a:lnRef>
          <a:fillRef idx="3">
            <a:schemeClr val="accent1"/>
          </a:fillRef>
          <a:effectRef idx="2">
            <a:schemeClr val="accent1"/>
          </a:effectRef>
          <a:fontRef idx="minor">
            <a:schemeClr val="lt1"/>
          </a:fontRef>
        </p:style>
        <p:txBody>
          <a:bodyPr rtlCol="0" anchor="ctr" wrap="square" lIns="88900" rIns="88900" tIns="88900" bIns="88900"/>
          <a:lstStyle/>
          <a:p>
            <a:pPr algn="ctr">
              <a:defRPr sz="1350" b="1">
                <a:solidFill>
                  <a:srgbClr val="F59E0B"/>
                </a:solidFill>
                <a:latin typeface="Calibri"/>
              </a:defRPr>
            </a:pPr>
            <a:r>
              <a:t>LEAK 2: PHANTOM INVENTORY</a:t>
            </a:r>
          </a:p>
          <a:p>
            <a:pPr>
              <a:defRPr sz="1750" b="1">
                <a:solidFill>
                  <a:srgbClr val="FFFFFF"/>
                </a:solidFill>
                <a:latin typeface="Calibri"/>
              </a:defRPr>
            </a:pPr>
            <a:r>
              <a:t>1.8% to 2.4% Phantom Shrinkage &amp; Unrecorded Damage</a:t>
            </a:r>
          </a:p>
          <a:p>
            <a:pPr>
              <a:defRPr sz="1350">
                <a:solidFill>
                  <a:srgbClr val="94A3B8"/>
                </a:solidFill>
                <a:latin typeface="Calibri"/>
              </a:defRPr>
            </a:pPr>
            <a:r>
              <a:t>A severe disconnect between database records and physical shelf reality caused by unrecorded carton tears, internal theft, and delayed reconciliations.</a:t>
            </a:r>
          </a:p>
        </p:txBody>
      </p:sp>
      <p:sp>
        <p:nvSpPr>
          <p:cNvPr id="8" name="Rounded Rectangle 7"/>
          <p:cNvSpPr/>
          <p:nvPr/>
        </p:nvSpPr>
        <p:spPr>
          <a:xfrm>
            <a:off x="5760720" y="4663440"/>
            <a:ext cx="5669280" cy="1463040"/>
          </a:xfrm>
          <a:prstGeom prst="roundRect">
            <a:avLst/>
          </a:prstGeom>
          <a:solidFill>
            <a:srgbClr val="1E293B"/>
          </a:solidFill>
          <a:ln w="12700">
            <a:solidFill>
              <a:srgbClr val="0EA5E9"/>
            </a:solidFill>
          </a:ln>
        </p:spPr>
        <p:style>
          <a:lnRef idx="1">
            <a:schemeClr val="accent1"/>
          </a:lnRef>
          <a:fillRef idx="3">
            <a:schemeClr val="accent1"/>
          </a:fillRef>
          <a:effectRef idx="2">
            <a:schemeClr val="accent1"/>
          </a:effectRef>
          <a:fontRef idx="minor">
            <a:schemeClr val="lt1"/>
          </a:fontRef>
        </p:style>
        <p:txBody>
          <a:bodyPr rtlCol="0" anchor="ctr" wrap="square" lIns="88900" rIns="88900" tIns="88900" bIns="88900"/>
          <a:lstStyle/>
          <a:p>
            <a:pPr algn="ctr">
              <a:defRPr sz="1350" b="1">
                <a:solidFill>
                  <a:srgbClr val="0EA5E9"/>
                </a:solidFill>
                <a:latin typeface="Calibri"/>
              </a:defRPr>
            </a:pPr>
            <a:r>
              <a:t>LEAK 3: LOST SALES SURGE</a:t>
            </a:r>
          </a:p>
          <a:p>
            <a:pPr>
              <a:defRPr sz="1750" b="1">
                <a:solidFill>
                  <a:srgbClr val="FFFFFF"/>
                </a:solidFill>
                <a:latin typeface="Calibri"/>
              </a:defRPr>
            </a:pPr>
            <a:r>
              <a:t>7.5% to 11.2% Peak-Hour Stockout Revenue Losses</a:t>
            </a:r>
          </a:p>
          <a:p>
            <a:pPr>
              <a:defRPr sz="1350">
                <a:solidFill>
                  <a:srgbClr val="94A3B8"/>
                </a:solidFill>
                <a:latin typeface="Calibri"/>
              </a:defRPr>
            </a:pPr>
            <a:r>
              <a:t>Cooking oil, sugar, and milk run out within minutes during Friday evenings and Ramadan rushes. Non-atomic POS deductions delay warehouse replenishment by hours.</a:t>
            </a:r>
          </a:p>
        </p:txBody>
      </p:sp>
    </p:spTree>
  </p:cSld>
  <p:clrMapOvr>
    <a:masterClrMapping/>
  </p:clrMapOvr>
</p:sld>
</file>

<file path=ppt/slides/slide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0F172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731520" y="320040"/>
            <a:ext cx="10728655" cy="1051560"/>
          </a:xfrm>
          <a:prstGeom prst="rect">
            <a:avLst/>
          </a:prstGeom>
          <a:noFill/>
        </p:spPr>
        <p:txBody>
          <a:bodyPr wrap="square" lIns="0" tIns="0" rIns="0" bIns="0">
            <a:spAutoFit/>
          </a:bodyPr>
          <a:lstStyle/>
          <a:p>
            <a:pPr>
              <a:spcAft>
                <a:spcPts val="200"/>
              </a:spcAft>
              <a:defRPr sz="1400" b="1">
                <a:solidFill>
                  <a:srgbClr val="0EA5E9"/>
                </a:solidFill>
                <a:latin typeface="Calibri"/>
              </a:defRPr>
            </a:pPr>
            <a:r>
              <a:t>ACADEMIC RIGOR &amp; GROUNDING</a:t>
            </a:r>
          </a:p>
          <a:p>
            <a:pPr>
              <a:defRPr sz="3000" b="1">
                <a:solidFill>
                  <a:srgbClr val="FFFFFF"/>
                </a:solidFill>
                <a:latin typeface="Calibri"/>
              </a:defRPr>
            </a:pPr>
            <a:r>
              <a:t>Defending Proposal Claims: Grounded Epistemological Taxonomy</a:t>
            </a:r>
          </a:p>
        </p:txBody>
      </p:sp>
      <p:sp>
        <p:nvSpPr>
          <p:cNvPr id="4" name="TextBox 3"/>
          <p:cNvSpPr txBox="1"/>
          <p:nvPr/>
        </p:nvSpPr>
        <p:spPr>
          <a:xfrm>
            <a:off x="731520" y="6400800"/>
            <a:ext cx="10728655" cy="365760"/>
          </a:xfrm>
          <a:prstGeom prst="rect">
            <a:avLst/>
          </a:prstGeom>
          <a:noFill/>
        </p:spPr>
        <p:txBody>
          <a:bodyPr wrap="none" lIns="0" tIns="0" rIns="0" bIns="0">
            <a:spAutoFit/>
          </a:bodyPr>
          <a:lstStyle/>
          <a:p>
            <a:pPr>
              <a:defRPr sz="1200">
                <a:solidFill>
                  <a:srgbClr val="94A3B8"/>
                </a:solidFill>
                <a:latin typeface="Calibri"/>
              </a:defRPr>
            </a:pPr>
            <a:r>
              <a:t>RetailSync (SE-231 Capstone Project 2) • Department of Software Engineering, Daffodil International University | Slide 3 of 12</a:t>
            </a:r>
          </a:p>
        </p:txBody>
      </p:sp>
      <p:sp>
        <p:nvSpPr>
          <p:cNvPr id="5" name="Rounded Rectangle 4"/>
          <p:cNvSpPr/>
          <p:nvPr/>
        </p:nvSpPr>
        <p:spPr>
          <a:xfrm>
            <a:off x="731520" y="1463040"/>
            <a:ext cx="3474720" cy="4663440"/>
          </a:xfrm>
          <a:prstGeom prst="roundRect">
            <a:avLst/>
          </a:prstGeom>
          <a:solidFill>
            <a:srgbClr val="1E293B"/>
          </a:solidFill>
          <a:ln w="12700">
            <a:solidFill>
              <a:srgbClr val="0EA5E9"/>
            </a:solidFill>
          </a:ln>
        </p:spPr>
        <p:style>
          <a:lnRef idx="1">
            <a:schemeClr val="accent1"/>
          </a:lnRef>
          <a:fillRef idx="3">
            <a:schemeClr val="accent1"/>
          </a:fillRef>
          <a:effectRef idx="2">
            <a:schemeClr val="accent1"/>
          </a:effectRef>
          <a:fontRef idx="minor">
            <a:schemeClr val="lt1"/>
          </a:fontRef>
        </p:style>
        <p:txBody>
          <a:bodyPr rtlCol="0" anchor="ctr" wrap="square" lIns="88900" rIns="88900" tIns="88900" bIns="88900"/>
          <a:lstStyle/>
          <a:p>
            <a:pPr algn="ctr">
              <a:spcAft>
                <a:spcPts val="800"/>
              </a:spcAft>
              <a:defRPr sz="2000" b="1">
                <a:solidFill>
                  <a:srgbClr val="0EA5E9"/>
                </a:solidFill>
                <a:latin typeface="Calibri"/>
              </a:defRPr>
            </a:pPr>
            <a:r>
              <a:t>Why We Ground Every Value</a:t>
            </a:r>
          </a:p>
          <a:p>
            <a:pPr>
              <a:spcAft>
                <a:spcPts val="500"/>
              </a:spcAft>
              <a:defRPr sz="1350">
                <a:solidFill>
                  <a:srgbClr val="FFFFFF"/>
                </a:solidFill>
                <a:latin typeface="Calibri"/>
              </a:defRPr>
            </a:pPr>
            <a:r>
              <a:t>• Eliminating Arbitrary Figures: In capstone defenses, student proposals are often challenged if numbers appear fabricated. We explicitly categorize every single claim.</a:t>
            </a:r>
          </a:p>
          <a:p>
            <a:pPr>
              <a:spcAft>
                <a:spcPts val="500"/>
              </a:spcAft>
              <a:defRPr sz="1350">
                <a:solidFill>
                  <a:srgbClr val="FFFFFF"/>
                </a:solidFill>
                <a:latin typeface="Calibri"/>
              </a:defRPr>
            </a:pPr>
            <a:r>
              <a:t>• Three Strict Epistemological Classes:</a:t>
            </a:r>
            <a:br/>
            <a:r>
              <a:t>1. Literature Baselines: Published field research (BSOA, FAO, NRSS).</a:t>
            </a:r>
            <a:br/>
            <a:r>
              <a:t>2. Engineering SLOs: Testable benchmarks verified with Locust.</a:t>
            </a:r>
            <a:br/>
            <a:r>
              <a:t>3. Simulation Assumptions: Controlled pilot mathematical models.</a:t>
            </a:r>
          </a:p>
          <a:p>
            <a:pPr>
              <a:spcAft>
                <a:spcPts val="500"/>
              </a:spcAft>
              <a:defRPr sz="1350">
                <a:solidFill>
                  <a:srgbClr val="FFFFFF"/>
                </a:solidFill>
                <a:latin typeface="Calibri"/>
              </a:defRPr>
            </a:pPr>
            <a:r>
              <a:t>• Zero Hand-Waving: Every percentage, latency threshold, and cost savings target is tied directly to a verifiable test protocol.</a:t>
            </a:r>
          </a:p>
        </p:txBody>
      </p:sp>
      <p:graphicFrame>
        <p:nvGraphicFramePr>
          <p:cNvPr id="6" name="Table 5"/>
          <p:cNvGraphicFramePr>
            <a:graphicFrameLocks noGrp="1"/>
          </p:cNvGraphicFramePr>
          <p:nvPr/>
        </p:nvGraphicFramePr>
        <p:xfrm>
          <a:off x="4389120" y="1463040"/>
          <a:ext cx="7040880" cy="4663440"/>
        </p:xfrm>
        <a:graphic>
          <a:graphicData uri="http://schemas.openxmlformats.org/drawingml/2006/table">
            <a:tbl>
              <a:tblPr firstRow="1" bandRow="1">
                <a:tableStyleId>{5C22544A-7EE6-4342-B048-85BDC9FD1C3A}</a:tableStyleId>
              </a:tblPr>
              <a:tblGrid>
                <a:gridCol w="1645920"/>
                <a:gridCol w="1463040"/>
                <a:gridCol w="1645920"/>
                <a:gridCol w="2286000"/>
              </a:tblGrid>
              <a:tr h="582930">
                <a:tc>
                  <a:txBody>
                    <a:bodyPr/>
                    <a:lstStyle/>
                    <a:p>
                      <a:pPr>
                        <a:defRPr sz="1400" b="1">
                          <a:solidFill>
                            <a:srgbClr val="FFFFFF"/>
                          </a:solidFill>
                          <a:latin typeface="Calibri"/>
                        </a:defRPr>
                      </a:pPr>
                      <a:r>
                        <a:t>Metric / Parameter</a:t>
                      </a:r>
                    </a:p>
                  </a:txBody>
                  <a:tcPr>
                    <a:solidFill>
                      <a:srgbClr val="1B365D"/>
                    </a:solidFill>
                  </a:tcPr>
                </a:tc>
                <a:tc>
                  <a:txBody>
                    <a:bodyPr/>
                    <a:lstStyle/>
                    <a:p>
                      <a:pPr>
                        <a:defRPr sz="1400" b="1">
                          <a:solidFill>
                            <a:srgbClr val="FFFFFF"/>
                          </a:solidFill>
                          <a:latin typeface="Calibri"/>
                        </a:defRPr>
                      </a:pPr>
                      <a:r>
                        <a:t>Claimed Value</a:t>
                      </a:r>
                    </a:p>
                  </a:txBody>
                  <a:tcPr>
                    <a:solidFill>
                      <a:srgbClr val="1B365D"/>
                    </a:solidFill>
                  </a:tcPr>
                </a:tc>
                <a:tc>
                  <a:txBody>
                    <a:bodyPr/>
                    <a:lstStyle/>
                    <a:p>
                      <a:pPr>
                        <a:defRPr sz="1400" b="1">
                          <a:solidFill>
                            <a:srgbClr val="FFFFFF"/>
                          </a:solidFill>
                          <a:latin typeface="Calibri"/>
                        </a:defRPr>
                      </a:pPr>
                      <a:r>
                        <a:t>Classification</a:t>
                      </a:r>
                    </a:p>
                  </a:txBody>
                  <a:tcPr>
                    <a:solidFill>
                      <a:srgbClr val="1B365D"/>
                    </a:solidFill>
                  </a:tcPr>
                </a:tc>
                <a:tc>
                  <a:txBody>
                    <a:bodyPr/>
                    <a:lstStyle/>
                    <a:p>
                      <a:pPr>
                        <a:defRPr sz="1400" b="1">
                          <a:solidFill>
                            <a:srgbClr val="FFFFFF"/>
                          </a:solidFill>
                          <a:latin typeface="Calibri"/>
                        </a:defRPr>
                      </a:pPr>
                      <a:r>
                        <a:t>Source &amp; Verification Protocol</a:t>
                      </a:r>
                    </a:p>
                  </a:txBody>
                  <a:tcPr>
                    <a:solidFill>
                      <a:srgbClr val="1B365D"/>
                    </a:solidFill>
                  </a:tcPr>
                </a:tc>
              </a:tr>
              <a:tr h="582930">
                <a:tc>
                  <a:txBody>
                    <a:bodyPr/>
                    <a:lstStyle/>
                    <a:p>
                      <a:pPr>
                        <a:defRPr sz="1300">
                          <a:solidFill>
                            <a:srgbClr val="FFFFFF"/>
                          </a:solidFill>
                          <a:latin typeface="Calibri"/>
                        </a:defRPr>
                      </a:pPr>
                      <a:r>
                        <a:t>Perishable Spoilage</a:t>
                      </a:r>
                    </a:p>
                  </a:txBody>
                  <a:tcPr>
                    <a:solidFill>
                      <a:srgbClr val="1E293B"/>
                    </a:solidFill>
                  </a:tcPr>
                </a:tc>
                <a:tc>
                  <a:txBody>
                    <a:bodyPr/>
                    <a:lstStyle/>
                    <a:p>
                      <a:pPr>
                        <a:defRPr sz="1300">
                          <a:solidFill>
                            <a:srgbClr val="FFFFFF"/>
                          </a:solidFill>
                          <a:latin typeface="Calibri"/>
                        </a:defRPr>
                      </a:pPr>
                      <a:r>
                        <a:t>15% to 22% annual loss</a:t>
                      </a:r>
                    </a:p>
                  </a:txBody>
                  <a:tcPr>
                    <a:solidFill>
                      <a:srgbClr val="1E293B"/>
                    </a:solidFill>
                  </a:tcPr>
                </a:tc>
                <a:tc>
                  <a:txBody>
                    <a:bodyPr/>
                    <a:lstStyle/>
                    <a:p>
                      <a:pPr>
                        <a:defRPr sz="1300">
                          <a:solidFill>
                            <a:srgbClr val="FFFFFF"/>
                          </a:solidFill>
                          <a:latin typeface="Calibri"/>
                        </a:defRPr>
                      </a:pPr>
                      <a:r>
                        <a:t>Literature Baseline</a:t>
                      </a:r>
                    </a:p>
                  </a:txBody>
                  <a:tcPr>
                    <a:solidFill>
                      <a:srgbClr val="1E293B"/>
                    </a:solidFill>
                  </a:tcPr>
                </a:tc>
                <a:tc>
                  <a:txBody>
                    <a:bodyPr/>
                    <a:lstStyle/>
                    <a:p>
                      <a:pPr>
                        <a:defRPr sz="1300">
                          <a:solidFill>
                            <a:srgbClr val="FFFFFF"/>
                          </a:solidFill>
                          <a:latin typeface="Calibri"/>
                        </a:defRPr>
                      </a:pPr>
                      <a:r>
                        <a:t>BSOA 2024 Report &amp; FAO Post-Harvest Study</a:t>
                      </a:r>
                    </a:p>
                  </a:txBody>
                  <a:tcPr>
                    <a:solidFill>
                      <a:srgbClr val="1E293B"/>
                    </a:solidFill>
                  </a:tcPr>
                </a:tc>
              </a:tr>
              <a:tr h="582930">
                <a:tc>
                  <a:txBody>
                    <a:bodyPr/>
                    <a:lstStyle/>
                    <a:p>
                      <a:pPr>
                        <a:defRPr sz="1300">
                          <a:solidFill>
                            <a:srgbClr val="FFFFFF"/>
                          </a:solidFill>
                          <a:latin typeface="Calibri"/>
                        </a:defRPr>
                      </a:pPr>
                      <a:r>
                        <a:t>Phantom Shrinkage</a:t>
                      </a:r>
                    </a:p>
                  </a:txBody>
                  <a:tcPr>
                    <a:solidFill>
                      <a:srgbClr val="182235"/>
                    </a:solidFill>
                  </a:tcPr>
                </a:tc>
                <a:tc>
                  <a:txBody>
                    <a:bodyPr/>
                    <a:lstStyle/>
                    <a:p>
                      <a:pPr>
                        <a:defRPr sz="1300">
                          <a:solidFill>
                            <a:srgbClr val="FFFFFF"/>
                          </a:solidFill>
                          <a:latin typeface="Calibri"/>
                        </a:defRPr>
                      </a:pPr>
                      <a:r>
                        <a:t>1.8% to 2.4% loss</a:t>
                      </a:r>
                    </a:p>
                  </a:txBody>
                  <a:tcPr>
                    <a:solidFill>
                      <a:srgbClr val="182235"/>
                    </a:solidFill>
                  </a:tcPr>
                </a:tc>
                <a:tc>
                  <a:txBody>
                    <a:bodyPr/>
                    <a:lstStyle/>
                    <a:p>
                      <a:pPr>
                        <a:defRPr sz="1300">
                          <a:solidFill>
                            <a:srgbClr val="FFFFFF"/>
                          </a:solidFill>
                          <a:latin typeface="Calibri"/>
                        </a:defRPr>
                      </a:pPr>
                      <a:r>
                        <a:t>Industry Baseline</a:t>
                      </a:r>
                    </a:p>
                  </a:txBody>
                  <a:tcPr>
                    <a:solidFill>
                      <a:srgbClr val="182235"/>
                    </a:solidFill>
                  </a:tcPr>
                </a:tc>
                <a:tc>
                  <a:txBody>
                    <a:bodyPr/>
                    <a:lstStyle/>
                    <a:p>
                      <a:pPr>
                        <a:defRPr sz="1300">
                          <a:solidFill>
                            <a:srgbClr val="FFFFFF"/>
                          </a:solidFill>
                          <a:latin typeface="Calibri"/>
                        </a:defRPr>
                      </a:pPr>
                      <a:r>
                        <a:t>NRSS Supermarket Shrinkage Survey</a:t>
                      </a:r>
                    </a:p>
                  </a:txBody>
                  <a:tcPr>
                    <a:solidFill>
                      <a:srgbClr val="182235"/>
                    </a:solidFill>
                  </a:tcPr>
                </a:tc>
              </a:tr>
              <a:tr h="582930">
                <a:tc>
                  <a:txBody>
                    <a:bodyPr/>
                    <a:lstStyle/>
                    <a:p>
                      <a:pPr>
                        <a:defRPr sz="1300">
                          <a:solidFill>
                            <a:srgbClr val="FFFFFF"/>
                          </a:solidFill>
                          <a:latin typeface="Calibri"/>
                        </a:defRPr>
                      </a:pPr>
                      <a:r>
                        <a:t>Peak Stockout Losses</a:t>
                      </a:r>
                    </a:p>
                  </a:txBody>
                  <a:tcPr>
                    <a:solidFill>
                      <a:srgbClr val="1E293B"/>
                    </a:solidFill>
                  </a:tcPr>
                </a:tc>
                <a:tc>
                  <a:txBody>
                    <a:bodyPr/>
                    <a:lstStyle/>
                    <a:p>
                      <a:pPr>
                        <a:defRPr sz="1300">
                          <a:solidFill>
                            <a:srgbClr val="FFFFFF"/>
                          </a:solidFill>
                          <a:latin typeface="Calibri"/>
                        </a:defRPr>
                      </a:pPr>
                      <a:r>
                        <a:t>7.5% to 11.2% lost sales</a:t>
                      </a:r>
                    </a:p>
                  </a:txBody>
                  <a:tcPr>
                    <a:solidFill>
                      <a:srgbClr val="1E293B"/>
                    </a:solidFill>
                  </a:tcPr>
                </a:tc>
                <a:tc>
                  <a:txBody>
                    <a:bodyPr/>
                    <a:lstStyle/>
                    <a:p>
                      <a:pPr>
                        <a:defRPr sz="1300">
                          <a:solidFill>
                            <a:srgbClr val="FFFFFF"/>
                          </a:solidFill>
                          <a:latin typeface="Calibri"/>
                        </a:defRPr>
                      </a:pPr>
                      <a:r>
                        <a:t>Industry Baseline</a:t>
                      </a:r>
                    </a:p>
                  </a:txBody>
                  <a:tcPr>
                    <a:solidFill>
                      <a:srgbClr val="1E293B"/>
                    </a:solidFill>
                  </a:tcPr>
                </a:tc>
                <a:tc>
                  <a:txBody>
                    <a:bodyPr/>
                    <a:lstStyle/>
                    <a:p>
                      <a:pPr>
                        <a:defRPr sz="1300">
                          <a:solidFill>
                            <a:srgbClr val="FFFFFF"/>
                          </a:solidFill>
                          <a:latin typeface="Calibri"/>
                        </a:defRPr>
                      </a:pPr>
                      <a:r>
                        <a:t>IHL Group Retail Out-of-Stock Index</a:t>
                      </a:r>
                    </a:p>
                  </a:txBody>
                  <a:tcPr>
                    <a:solidFill>
                      <a:srgbClr val="1E293B"/>
                    </a:solidFill>
                  </a:tcPr>
                </a:tc>
              </a:tr>
              <a:tr h="582930">
                <a:tc>
                  <a:txBody>
                    <a:bodyPr/>
                    <a:lstStyle/>
                    <a:p>
                      <a:pPr>
                        <a:defRPr sz="1300">
                          <a:solidFill>
                            <a:srgbClr val="FFFFFF"/>
                          </a:solidFill>
                          <a:latin typeface="Calibri"/>
                        </a:defRPr>
                      </a:pPr>
                      <a:r>
                        <a:t>POS Checkout Latency</a:t>
                      </a:r>
                    </a:p>
                  </a:txBody>
                  <a:tcPr>
                    <a:solidFill>
                      <a:srgbClr val="182235"/>
                    </a:solidFill>
                  </a:tcPr>
                </a:tc>
                <a:tc>
                  <a:txBody>
                    <a:bodyPr/>
                    <a:lstStyle/>
                    <a:p>
                      <a:pPr>
                        <a:defRPr sz="1300">
                          <a:solidFill>
                            <a:srgbClr val="FFFFFF"/>
                          </a:solidFill>
                          <a:latin typeface="Calibri"/>
                        </a:defRPr>
                      </a:pPr>
                      <a:r>
                        <a:t>≤ 2.0s (p95 ≤ 800ms)</a:t>
                      </a:r>
                    </a:p>
                  </a:txBody>
                  <a:tcPr>
                    <a:solidFill>
                      <a:srgbClr val="182235"/>
                    </a:solidFill>
                  </a:tcPr>
                </a:tc>
                <a:tc>
                  <a:txBody>
                    <a:bodyPr/>
                    <a:lstStyle/>
                    <a:p>
                      <a:pPr>
                        <a:defRPr sz="1300">
                          <a:solidFill>
                            <a:srgbClr val="FFFFFF"/>
                          </a:solidFill>
                          <a:latin typeface="Calibri"/>
                        </a:defRPr>
                      </a:pPr>
                      <a:r>
                        <a:t>Engineering SLO</a:t>
                      </a:r>
                    </a:p>
                  </a:txBody>
                  <a:tcPr>
                    <a:solidFill>
                      <a:srgbClr val="182235"/>
                    </a:solidFill>
                  </a:tcPr>
                </a:tc>
                <a:tc>
                  <a:txBody>
                    <a:bodyPr/>
                    <a:lstStyle/>
                    <a:p>
                      <a:pPr>
                        <a:defRPr sz="1300">
                          <a:solidFill>
                            <a:srgbClr val="FFFFFF"/>
                          </a:solidFill>
                          <a:latin typeface="Calibri"/>
                        </a:defRPr>
                      </a:pPr>
                      <a:r>
                        <a:t>Locust load test with PostgreSQL row locks</a:t>
                      </a:r>
                    </a:p>
                  </a:txBody>
                  <a:tcPr>
                    <a:solidFill>
                      <a:srgbClr val="182235"/>
                    </a:solidFill>
                  </a:tcPr>
                </a:tc>
              </a:tr>
              <a:tr h="582930">
                <a:tc>
                  <a:txBody>
                    <a:bodyPr/>
                    <a:lstStyle/>
                    <a:p>
                      <a:pPr>
                        <a:defRPr sz="1300">
                          <a:solidFill>
                            <a:srgbClr val="FFFFFF"/>
                          </a:solidFill>
                          <a:latin typeface="Calibri"/>
                        </a:defRPr>
                      </a:pPr>
                      <a:r>
                        <a:t>Barcode Scan Latency</a:t>
                      </a:r>
                    </a:p>
                  </a:txBody>
                  <a:tcPr>
                    <a:solidFill>
                      <a:srgbClr val="1E293B"/>
                    </a:solidFill>
                  </a:tcPr>
                </a:tc>
                <a:tc>
                  <a:txBody>
                    <a:bodyPr/>
                    <a:lstStyle/>
                    <a:p>
                      <a:pPr>
                        <a:defRPr sz="1300">
                          <a:solidFill>
                            <a:srgbClr val="FFFFFF"/>
                          </a:solidFill>
                          <a:latin typeface="Calibri"/>
                        </a:defRPr>
                      </a:pPr>
                      <a:r>
                        <a:t>≤ 350ms visual decode</a:t>
                      </a:r>
                    </a:p>
                  </a:txBody>
                  <a:tcPr>
                    <a:solidFill>
                      <a:srgbClr val="1E293B"/>
                    </a:solidFill>
                  </a:tcPr>
                </a:tc>
                <a:tc>
                  <a:txBody>
                    <a:bodyPr/>
                    <a:lstStyle/>
                    <a:p>
                      <a:pPr>
                        <a:defRPr sz="1300">
                          <a:solidFill>
                            <a:srgbClr val="FFFFFF"/>
                          </a:solidFill>
                          <a:latin typeface="Calibri"/>
                        </a:defRPr>
                      </a:pPr>
                      <a:r>
                        <a:t>Hardware SLO</a:t>
                      </a:r>
                    </a:p>
                  </a:txBody>
                  <a:tcPr>
                    <a:solidFill>
                      <a:srgbClr val="1E293B"/>
                    </a:solidFill>
                  </a:tcPr>
                </a:tc>
                <a:tc>
                  <a:txBody>
                    <a:bodyPr/>
                    <a:lstStyle/>
                    <a:p>
                      <a:pPr>
                        <a:defRPr sz="1300">
                          <a:solidFill>
                            <a:srgbClr val="FFFFFF"/>
                          </a:solidFill>
                          <a:latin typeface="Calibri"/>
                        </a:defRPr>
                      </a:pPr>
                      <a:r>
                        <a:t>Android camera/Bluetooth trigger test</a:t>
                      </a:r>
                    </a:p>
                  </a:txBody>
                  <a:tcPr>
                    <a:solidFill>
                      <a:srgbClr val="1E293B"/>
                    </a:solidFill>
                  </a:tcPr>
                </a:tc>
              </a:tr>
              <a:tr h="582930">
                <a:tc>
                  <a:txBody>
                    <a:bodyPr/>
                    <a:lstStyle/>
                    <a:p>
                      <a:pPr>
                        <a:defRPr sz="1300">
                          <a:solidFill>
                            <a:srgbClr val="FFFFFF"/>
                          </a:solidFill>
                          <a:latin typeface="Calibri"/>
                        </a:defRPr>
                      </a:pPr>
                      <a:r>
                        <a:t>Post-Launch Spoilage</a:t>
                      </a:r>
                    </a:p>
                  </a:txBody>
                  <a:tcPr>
                    <a:solidFill>
                      <a:srgbClr val="182235"/>
                    </a:solidFill>
                  </a:tcPr>
                </a:tc>
                <a:tc>
                  <a:txBody>
                    <a:bodyPr/>
                    <a:lstStyle/>
                    <a:p>
                      <a:pPr>
                        <a:defRPr sz="1300">
                          <a:solidFill>
                            <a:srgbClr val="FFFFFF"/>
                          </a:solidFill>
                          <a:latin typeface="Calibri"/>
                        </a:defRPr>
                      </a:pPr>
                      <a:r>
                        <a:t>&lt; 6% annual wastage</a:t>
                      </a:r>
                    </a:p>
                  </a:txBody>
                  <a:tcPr>
                    <a:solidFill>
                      <a:srgbClr val="182235"/>
                    </a:solidFill>
                  </a:tcPr>
                </a:tc>
                <a:tc>
                  <a:txBody>
                    <a:bodyPr/>
                    <a:lstStyle/>
                    <a:p>
                      <a:pPr>
                        <a:defRPr sz="1300">
                          <a:solidFill>
                            <a:srgbClr val="FFFFFF"/>
                          </a:solidFill>
                          <a:latin typeface="Calibri"/>
                        </a:defRPr>
                      </a:pPr>
                      <a:r>
                        <a:t>Simulation Target</a:t>
                      </a:r>
                    </a:p>
                  </a:txBody>
                  <a:tcPr>
                    <a:solidFill>
                      <a:srgbClr val="182235"/>
                    </a:solidFill>
                  </a:tcPr>
                </a:tc>
                <a:tc>
                  <a:txBody>
                    <a:bodyPr/>
                    <a:lstStyle/>
                    <a:p>
                      <a:pPr>
                        <a:defRPr sz="1300">
                          <a:solidFill>
                            <a:srgbClr val="FFFFFF"/>
                          </a:solidFill>
                          <a:latin typeface="Calibri"/>
                        </a:defRPr>
                      </a:pPr>
                      <a:r>
                        <a:t>Modeled FEFO queue + automated quarantine</a:t>
                      </a:r>
                    </a:p>
                  </a:txBody>
                  <a:tcPr>
                    <a:solidFill>
                      <a:srgbClr val="182235"/>
                    </a:solidFill>
                  </a:tcPr>
                </a:tc>
              </a:tr>
              <a:tr h="582930">
                <a:tc>
                  <a:txBody>
                    <a:bodyPr/>
                    <a:lstStyle/>
                    <a:p>
                      <a:pPr>
                        <a:defRPr sz="1300">
                          <a:solidFill>
                            <a:srgbClr val="FFFFFF"/>
                          </a:solidFill>
                          <a:latin typeface="Calibri"/>
                        </a:defRPr>
                      </a:pPr>
                      <a:r>
                        <a:t>Hardware Station Cost</a:t>
                      </a:r>
                    </a:p>
                  </a:txBody>
                  <a:tcPr>
                    <a:solidFill>
                      <a:srgbClr val="1E293B"/>
                    </a:solidFill>
                  </a:tcPr>
                </a:tc>
                <a:tc>
                  <a:txBody>
                    <a:bodyPr/>
                    <a:lstStyle/>
                    <a:p>
                      <a:pPr>
                        <a:defRPr sz="1300">
                          <a:solidFill>
                            <a:srgbClr val="FFFFFF"/>
                          </a:solidFill>
                          <a:latin typeface="Calibri"/>
                        </a:defRPr>
                      </a:pPr>
                      <a:r>
                        <a:t>&lt; 16,000 BDT (90% cut)</a:t>
                      </a:r>
                    </a:p>
                  </a:txBody>
                  <a:tcPr>
                    <a:solidFill>
                      <a:srgbClr val="1E293B"/>
                    </a:solidFill>
                  </a:tcPr>
                </a:tc>
                <a:tc>
                  <a:txBody>
                    <a:bodyPr/>
                    <a:lstStyle/>
                    <a:p>
                      <a:pPr>
                        <a:defRPr sz="1300">
                          <a:solidFill>
                            <a:srgbClr val="FFFFFF"/>
                          </a:solidFill>
                          <a:latin typeface="Calibri"/>
                        </a:defRPr>
                      </a:pPr>
                      <a:r>
                        <a:t>Budget Benchmark</a:t>
                      </a:r>
                    </a:p>
                  </a:txBody>
                  <a:tcPr>
                    <a:solidFill>
                      <a:srgbClr val="1E293B"/>
                    </a:solidFill>
                  </a:tcPr>
                </a:tc>
                <a:tc>
                  <a:txBody>
                    <a:bodyPr/>
                    <a:lstStyle/>
                    <a:p>
                      <a:pPr>
                        <a:defRPr sz="1300">
                          <a:solidFill>
                            <a:srgbClr val="FFFFFF"/>
                          </a:solidFill>
                          <a:latin typeface="Calibri"/>
                        </a:defRPr>
                      </a:pPr>
                      <a:r>
                        <a:t>Android phone + Bluetooth trigger vs Zebra</a:t>
                      </a:r>
                    </a:p>
                  </a:txBody>
                  <a:tcPr>
                    <a:solidFill>
                      <a:srgbClr val="1E293B"/>
                    </a:solidFill>
                  </a:tcPr>
                </a:tc>
              </a:tr>
            </a:tbl>
          </a:graphicData>
        </a:graphic>
      </p:graphicFrame>
    </p:spTree>
  </p:cSld>
  <p:clrMapOvr>
    <a:masterClrMapping/>
  </p:clrMapOvr>
</p:sld>
</file>

<file path=ppt/slides/slide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0F172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731520" y="320040"/>
            <a:ext cx="10728655" cy="1051560"/>
          </a:xfrm>
          <a:prstGeom prst="rect">
            <a:avLst/>
          </a:prstGeom>
          <a:noFill/>
        </p:spPr>
        <p:txBody>
          <a:bodyPr wrap="square" lIns="0" tIns="0" rIns="0" bIns="0">
            <a:spAutoFit/>
          </a:bodyPr>
          <a:lstStyle/>
          <a:p>
            <a:pPr>
              <a:spcAft>
                <a:spcPts val="200"/>
              </a:spcAft>
              <a:defRPr sz="1400" b="1">
                <a:solidFill>
                  <a:srgbClr val="0EA5E9"/>
                </a:solidFill>
                <a:latin typeface="Calibri"/>
              </a:defRPr>
            </a:pPr>
            <a:r>
              <a:t>OBJECTIVES &amp; EVALUATION CRITERIA</a:t>
            </a:r>
          </a:p>
          <a:p>
            <a:pPr>
              <a:defRPr sz="3000" b="1">
                <a:solidFill>
                  <a:srgbClr val="FFFFFF"/>
                </a:solidFill>
                <a:latin typeface="Calibri"/>
              </a:defRPr>
            </a:pPr>
            <a:r>
              <a:t>Quantitative SMART Project Objectives (O-01 to O-05)</a:t>
            </a:r>
          </a:p>
        </p:txBody>
      </p:sp>
      <p:sp>
        <p:nvSpPr>
          <p:cNvPr id="4" name="TextBox 3"/>
          <p:cNvSpPr txBox="1"/>
          <p:nvPr/>
        </p:nvSpPr>
        <p:spPr>
          <a:xfrm>
            <a:off x="731520" y="6400800"/>
            <a:ext cx="10728655" cy="365760"/>
          </a:xfrm>
          <a:prstGeom prst="rect">
            <a:avLst/>
          </a:prstGeom>
          <a:noFill/>
        </p:spPr>
        <p:txBody>
          <a:bodyPr wrap="none" lIns="0" tIns="0" rIns="0" bIns="0">
            <a:spAutoFit/>
          </a:bodyPr>
          <a:lstStyle/>
          <a:p>
            <a:pPr>
              <a:defRPr sz="1200">
                <a:solidFill>
                  <a:srgbClr val="94A3B8"/>
                </a:solidFill>
                <a:latin typeface="Calibri"/>
              </a:defRPr>
            </a:pPr>
            <a:r>
              <a:t>RetailSync (SE-231 Capstone Project 2) • Department of Software Engineering, Daffodil International University | Slide 4 of 12</a:t>
            </a:r>
          </a:p>
        </p:txBody>
      </p:sp>
      <p:sp>
        <p:nvSpPr>
          <p:cNvPr id="5" name="Rounded Rectangle 4"/>
          <p:cNvSpPr/>
          <p:nvPr/>
        </p:nvSpPr>
        <p:spPr>
          <a:xfrm>
            <a:off x="731520" y="1463040"/>
            <a:ext cx="5212080" cy="2194560"/>
          </a:xfrm>
          <a:prstGeom prst="roundRect">
            <a:avLst/>
          </a:prstGeom>
          <a:solidFill>
            <a:srgbClr val="1E293B"/>
          </a:solidFill>
          <a:ln w="12700">
            <a:solidFill>
              <a:srgbClr val="0EA5E9"/>
            </a:solidFill>
          </a:ln>
        </p:spPr>
        <p:style>
          <a:lnRef idx="1">
            <a:schemeClr val="accent1"/>
          </a:lnRef>
          <a:fillRef idx="3">
            <a:schemeClr val="accent1"/>
          </a:fillRef>
          <a:effectRef idx="2">
            <a:schemeClr val="accent1"/>
          </a:effectRef>
          <a:fontRef idx="minor">
            <a:schemeClr val="lt1"/>
          </a:fontRef>
        </p:style>
        <p:txBody>
          <a:bodyPr rtlCol="0" anchor="ctr" wrap="square" lIns="88900" rIns="88900" tIns="88900" bIns="88900"/>
          <a:lstStyle/>
          <a:p>
            <a:pPr algn="ctr">
              <a:spcAft>
                <a:spcPts val="200"/>
              </a:spcAft>
              <a:defRPr sz="1600" b="1">
                <a:solidFill>
                  <a:srgbClr val="0EA5E9"/>
                </a:solidFill>
                <a:latin typeface="Calibri"/>
              </a:defRPr>
            </a:pPr>
            <a:r>
              <a:t>O-01: Sub-Second POS Concurrency &amp; ACID Integrity</a:t>
            </a:r>
          </a:p>
          <a:p>
            <a:pPr>
              <a:spcAft>
                <a:spcPts val="300"/>
              </a:spcAft>
              <a:defRPr sz="1300">
                <a:solidFill>
                  <a:srgbClr val="FFFFFF"/>
                </a:solidFill>
                <a:latin typeface="Calibri"/>
              </a:defRPr>
            </a:pPr>
            <a:r>
              <a:t>Execute atomic stock deductions from retail cash registers via PostgreSQL row-level locks (SELECT ... FOR UPDATE), achieving p95 latency ≤ 800ms and p99 ≤ 1.5s with zero deadlocks across 10 concurrent registers.</a:t>
            </a:r>
          </a:p>
          <a:p>
            <a:pPr>
              <a:defRPr sz="1200" i="1">
                <a:solidFill>
                  <a:srgbClr val="38BDF8"/>
                </a:solidFill>
                <a:latin typeface="Calibri"/>
              </a:defRPr>
            </a:pPr>
            <a:r>
              <a:t>Verification: Gate: Locust load test simulating 10 concurrent cashiers competing for the last inventory batch.  [Sprint 4 (Weeks 7–8)]</a:t>
            </a:r>
          </a:p>
        </p:txBody>
      </p:sp>
      <p:sp>
        <p:nvSpPr>
          <p:cNvPr id="6" name="Rounded Rectangle 5"/>
          <p:cNvSpPr/>
          <p:nvPr/>
        </p:nvSpPr>
        <p:spPr>
          <a:xfrm>
            <a:off x="6217920" y="1463040"/>
            <a:ext cx="5212080" cy="2194560"/>
          </a:xfrm>
          <a:prstGeom prst="roundRect">
            <a:avLst/>
          </a:prstGeom>
          <a:solidFill>
            <a:srgbClr val="1E293B"/>
          </a:solidFill>
          <a:ln w="12700">
            <a:solidFill>
              <a:srgbClr val="10B981"/>
            </a:solidFill>
          </a:ln>
        </p:spPr>
        <p:style>
          <a:lnRef idx="1">
            <a:schemeClr val="accent1"/>
          </a:lnRef>
          <a:fillRef idx="3">
            <a:schemeClr val="accent1"/>
          </a:fillRef>
          <a:effectRef idx="2">
            <a:schemeClr val="accent1"/>
          </a:effectRef>
          <a:fontRef idx="minor">
            <a:schemeClr val="lt1"/>
          </a:fontRef>
        </p:style>
        <p:txBody>
          <a:bodyPr rtlCol="0" anchor="ctr" wrap="square" lIns="88900" rIns="88900" tIns="88900" bIns="88900"/>
          <a:lstStyle/>
          <a:p>
            <a:pPr algn="ctr">
              <a:spcAft>
                <a:spcPts val="200"/>
              </a:spcAft>
              <a:defRPr sz="1600" b="1">
                <a:solidFill>
                  <a:srgbClr val="10B981"/>
                </a:solidFill>
                <a:latin typeface="Calibri"/>
              </a:defRPr>
            </a:pPr>
            <a:r>
              <a:t>O-02: Automated FEFO Priority &amp; Food Safety Quarantine</a:t>
            </a:r>
          </a:p>
          <a:p>
            <a:pPr>
              <a:spcAft>
                <a:spcPts val="300"/>
              </a:spcAft>
              <a:defRPr sz="1300">
                <a:solidFill>
                  <a:srgbClr val="FFFFFF"/>
                </a:solidFill>
                <a:latin typeface="Calibri"/>
              </a:defRPr>
            </a:pPr>
            <a:r>
              <a:t>Enforce database-level First-Expired, First-Out allocation ensuring 100% of store replenishment orders pick earliest expiring batches; automatically quarantine stock reaching ≤ 3 days to expiry, reducing spoilage from 22% to &lt; 6% in pilot simulations.</a:t>
            </a:r>
          </a:p>
          <a:p>
            <a:pPr>
              <a:defRPr sz="1200" i="1">
                <a:solidFill>
                  <a:srgbClr val="38BDF8"/>
                </a:solidFill>
                <a:latin typeface="Calibri"/>
              </a:defRPr>
            </a:pPr>
            <a:r>
              <a:t>Verification: Gate: Automated Pytest batch sorting assertions &amp; Celery quarantine triggers.  [Sprint 3 (Weeks 5–6)]</a:t>
            </a:r>
          </a:p>
        </p:txBody>
      </p:sp>
      <p:sp>
        <p:nvSpPr>
          <p:cNvPr id="7" name="Rounded Rectangle 6"/>
          <p:cNvSpPr/>
          <p:nvPr/>
        </p:nvSpPr>
        <p:spPr>
          <a:xfrm>
            <a:off x="731520" y="3840480"/>
            <a:ext cx="3383280" cy="2286000"/>
          </a:xfrm>
          <a:prstGeom prst="roundRect">
            <a:avLst/>
          </a:prstGeom>
          <a:solidFill>
            <a:srgbClr val="1E293B"/>
          </a:solidFill>
          <a:ln w="12700">
            <a:solidFill>
              <a:srgbClr val="A855F7"/>
            </a:solidFill>
          </a:ln>
        </p:spPr>
        <p:style>
          <a:lnRef idx="1">
            <a:schemeClr val="accent1"/>
          </a:lnRef>
          <a:fillRef idx="3">
            <a:schemeClr val="accent1"/>
          </a:fillRef>
          <a:effectRef idx="2">
            <a:schemeClr val="accent1"/>
          </a:effectRef>
          <a:fontRef idx="minor">
            <a:schemeClr val="lt1"/>
          </a:fontRef>
        </p:style>
        <p:txBody>
          <a:bodyPr rtlCol="0" anchor="ctr" wrap="square" lIns="88900" rIns="88900" tIns="88900" bIns="88900"/>
          <a:lstStyle/>
          <a:p>
            <a:pPr algn="ctr">
              <a:spcAft>
                <a:spcPts val="200"/>
              </a:spcAft>
              <a:defRPr sz="1600" b="1">
                <a:solidFill>
                  <a:srgbClr val="A855F7"/>
                </a:solidFill>
                <a:latin typeface="Calibri"/>
              </a:defRPr>
            </a:pPr>
            <a:r>
              <a:t>O-03: AI-Driven Demand Forecasting &amp; Dynamic Replenishment</a:t>
            </a:r>
          </a:p>
          <a:p>
            <a:pPr>
              <a:spcAft>
                <a:spcPts val="300"/>
              </a:spcAft>
              <a:defRPr sz="1300">
                <a:solidFill>
                  <a:srgbClr val="FFFFFF"/>
                </a:solidFill>
                <a:latin typeface="Calibri"/>
              </a:defRPr>
            </a:pPr>
            <a:r>
              <a:t>Deploy a CatBoost Machine Learning Time-Series Forecasting engine achieving MAPE ≤ 15% on high-velocity FMCG items; dynamically compute Reorder Points (ROP) using Greasley's Safety Stock with native calendar festival embeddings (LightGBM deferred to roadmap).</a:t>
            </a:r>
          </a:p>
          <a:p>
            <a:pPr>
              <a:defRPr sz="1200" i="1">
                <a:solidFill>
                  <a:srgbClr val="38BDF8"/>
                </a:solidFill>
                <a:latin typeface="Calibri"/>
              </a:defRPr>
            </a:pPr>
            <a:r>
              <a:t>Verification: Gate: 12-month walk-forward backtesting against historical FMCG sales series.  [Sprint 5 (Weeks 9–10)]</a:t>
            </a:r>
          </a:p>
        </p:txBody>
      </p:sp>
      <p:sp>
        <p:nvSpPr>
          <p:cNvPr id="8" name="Rounded Rectangle 7"/>
          <p:cNvSpPr/>
          <p:nvPr/>
        </p:nvSpPr>
        <p:spPr>
          <a:xfrm>
            <a:off x="4389120" y="3840480"/>
            <a:ext cx="3383280" cy="2286000"/>
          </a:xfrm>
          <a:prstGeom prst="roundRect">
            <a:avLst/>
          </a:prstGeom>
          <a:solidFill>
            <a:srgbClr val="1E293B"/>
          </a:solidFill>
          <a:ln w="12700">
            <a:solidFill>
              <a:srgbClr val="F59E0B"/>
            </a:solidFill>
          </a:ln>
        </p:spPr>
        <p:style>
          <a:lnRef idx="1">
            <a:schemeClr val="accent1"/>
          </a:lnRef>
          <a:fillRef idx="3">
            <a:schemeClr val="accent1"/>
          </a:fillRef>
          <a:effectRef idx="2">
            <a:schemeClr val="accent1"/>
          </a:effectRef>
          <a:fontRef idx="minor">
            <a:schemeClr val="lt1"/>
          </a:fontRef>
        </p:style>
        <p:txBody>
          <a:bodyPr rtlCol="0" anchor="ctr" wrap="square" lIns="88900" rIns="88900" tIns="88900" bIns="88900"/>
          <a:lstStyle/>
          <a:p>
            <a:pPr algn="ctr">
              <a:spcAft>
                <a:spcPts val="200"/>
              </a:spcAft>
              <a:defRPr sz="1600" b="1">
                <a:solidFill>
                  <a:srgbClr val="F59E0B"/>
                </a:solidFill>
                <a:latin typeface="Calibri"/>
              </a:defRPr>
            </a:pPr>
            <a:r>
              <a:t>O-04: Frugal Hardware Architecture &amp; Sub-350ms Scanning</a:t>
            </a:r>
          </a:p>
          <a:p>
            <a:pPr>
              <a:spcAft>
                <a:spcPts val="300"/>
              </a:spcAft>
              <a:defRPr sz="1300">
                <a:solidFill>
                  <a:srgbClr val="FFFFFF"/>
                </a:solidFill>
                <a:latin typeface="Calibri"/>
              </a:defRPr>
            </a:pPr>
            <a:r>
              <a:t>Engineer a mobile Progressive Web Application (PWA) running on consumer Android smartphones paired with Bluetooth HID trigger grips (&lt; 4,000 BDT), achieving barcode decode-to-render latency ≤ 350ms and cutting terminal capex by 90%.</a:t>
            </a:r>
          </a:p>
          <a:p>
            <a:pPr>
              <a:defRPr sz="1200" i="1">
                <a:solidFill>
                  <a:srgbClr val="38BDF8"/>
                </a:solidFill>
                <a:latin typeface="Calibri"/>
              </a:defRPr>
            </a:pPr>
            <a:r>
              <a:t>Verification: Gate: Physical hardware testing on Android 13 with EAN-13 and Code-128 labels.  [Sprint 2 (Weeks 3–4)]</a:t>
            </a:r>
          </a:p>
        </p:txBody>
      </p:sp>
      <p:sp>
        <p:nvSpPr>
          <p:cNvPr id="9" name="Rounded Rectangle 8"/>
          <p:cNvSpPr/>
          <p:nvPr/>
        </p:nvSpPr>
        <p:spPr>
          <a:xfrm>
            <a:off x="8046720" y="3840480"/>
            <a:ext cx="3383280" cy="2286000"/>
          </a:xfrm>
          <a:prstGeom prst="roundRect">
            <a:avLst/>
          </a:prstGeom>
          <a:solidFill>
            <a:srgbClr val="1E293B"/>
          </a:solidFill>
          <a:ln w="12700">
            <a:solidFill>
              <a:srgbClr val="F43F5E"/>
            </a:solidFill>
          </a:ln>
        </p:spPr>
        <p:style>
          <a:lnRef idx="1">
            <a:schemeClr val="accent1"/>
          </a:lnRef>
          <a:fillRef idx="3">
            <a:schemeClr val="accent1"/>
          </a:fillRef>
          <a:effectRef idx="2">
            <a:schemeClr val="accent1"/>
          </a:effectRef>
          <a:fontRef idx="minor">
            <a:schemeClr val="lt1"/>
          </a:fontRef>
        </p:style>
        <p:txBody>
          <a:bodyPr rtlCol="0" anchor="ctr" wrap="square" lIns="88900" rIns="88900" tIns="88900" bIns="88900"/>
          <a:lstStyle/>
          <a:p>
            <a:pPr algn="ctr">
              <a:spcAft>
                <a:spcPts val="200"/>
              </a:spcAft>
              <a:defRPr sz="1600" b="1">
                <a:solidFill>
                  <a:srgbClr val="F43F5E"/>
                </a:solidFill>
                <a:latin typeface="Calibri"/>
              </a:defRPr>
            </a:pPr>
            <a:r>
              <a:t>O-05: Offline Network Resilience &amp; Idempotent Replay</a:t>
            </a:r>
          </a:p>
          <a:p>
            <a:pPr>
              <a:spcAft>
                <a:spcPts val="300"/>
              </a:spcAft>
              <a:defRPr sz="1300">
                <a:solidFill>
                  <a:srgbClr val="FFFFFF"/>
                </a:solidFill>
                <a:latin typeface="Calibri"/>
              </a:defRPr>
            </a:pPr>
            <a:r>
              <a:t>Implement Service Worker background sync and encrypted IndexedDB client storage to buffer ≥ 200 sales transactions during warehouse broadband outages, replaying idempotently via Redis X-Idempotency-Key upon connection restoration.</a:t>
            </a:r>
          </a:p>
          <a:p>
            <a:pPr>
              <a:defRPr sz="1200" i="1">
                <a:solidFill>
                  <a:srgbClr val="38BDF8"/>
                </a:solidFill>
                <a:latin typeface="Calibri"/>
              </a:defRPr>
            </a:pPr>
            <a:r>
              <a:t>Verification: Gate: Network blackout drill with Wi-Fi severance during peak scanning.  [Sprint 4 (Weeks 7–8)]</a:t>
            </a:r>
          </a:p>
        </p:txBody>
      </p:sp>
    </p:spTree>
  </p:cSld>
  <p:clrMapOvr>
    <a:masterClrMapping/>
  </p:clrMapOvr>
</p:sld>
</file>

<file path=ppt/slides/slide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0F172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731520" y="320040"/>
            <a:ext cx="10728655" cy="1051560"/>
          </a:xfrm>
          <a:prstGeom prst="rect">
            <a:avLst/>
          </a:prstGeom>
          <a:noFill/>
        </p:spPr>
        <p:txBody>
          <a:bodyPr wrap="square" lIns="0" tIns="0" rIns="0" bIns="0">
            <a:spAutoFit/>
          </a:bodyPr>
          <a:lstStyle/>
          <a:p>
            <a:pPr>
              <a:spcAft>
                <a:spcPts val="200"/>
              </a:spcAft>
              <a:defRPr sz="1400" b="1">
                <a:solidFill>
                  <a:srgbClr val="0EA5E9"/>
                </a:solidFill>
                <a:latin typeface="Calibri"/>
              </a:defRPr>
            </a:pPr>
            <a:r>
              <a:t>SCOPE MANAGEMENT &amp; SAFEGUARDS</a:t>
            </a:r>
          </a:p>
          <a:p>
            <a:pPr>
              <a:defRPr sz="3000" b="1">
                <a:solidFill>
                  <a:srgbClr val="FFFFFF"/>
                </a:solidFill>
                <a:latin typeface="Calibri"/>
              </a:defRPr>
            </a:pPr>
            <a:r>
              <a:t>Scope Boundaries &amp; Operational Constraints (4-Quadrant Matrix)</a:t>
            </a:r>
          </a:p>
        </p:txBody>
      </p:sp>
      <p:sp>
        <p:nvSpPr>
          <p:cNvPr id="4" name="TextBox 3"/>
          <p:cNvSpPr txBox="1"/>
          <p:nvPr/>
        </p:nvSpPr>
        <p:spPr>
          <a:xfrm>
            <a:off x="731520" y="6400800"/>
            <a:ext cx="10728655" cy="365760"/>
          </a:xfrm>
          <a:prstGeom prst="rect">
            <a:avLst/>
          </a:prstGeom>
          <a:noFill/>
        </p:spPr>
        <p:txBody>
          <a:bodyPr wrap="none" lIns="0" tIns="0" rIns="0" bIns="0">
            <a:spAutoFit/>
          </a:bodyPr>
          <a:lstStyle/>
          <a:p>
            <a:pPr>
              <a:defRPr sz="1200">
                <a:solidFill>
                  <a:srgbClr val="94A3B8"/>
                </a:solidFill>
                <a:latin typeface="Calibri"/>
              </a:defRPr>
            </a:pPr>
            <a:r>
              <a:t>RetailSync (SE-231 Capstone Project 2) • Department of Software Engineering, Daffodil International University | Slide 5 of 12</a:t>
            </a:r>
          </a:p>
        </p:txBody>
      </p:sp>
      <p:sp>
        <p:nvSpPr>
          <p:cNvPr id="5" name="Rounded Rectangle 4"/>
          <p:cNvSpPr/>
          <p:nvPr/>
        </p:nvSpPr>
        <p:spPr>
          <a:xfrm>
            <a:off x="731520" y="1463040"/>
            <a:ext cx="5212080" cy="2240280"/>
          </a:xfrm>
          <a:prstGeom prst="roundRect">
            <a:avLst/>
          </a:prstGeom>
          <a:solidFill>
            <a:srgbClr val="1E293B"/>
          </a:solidFill>
          <a:ln w="12700">
            <a:solidFill>
              <a:srgbClr val="0EA5E9"/>
            </a:solidFill>
          </a:ln>
        </p:spPr>
        <p:style>
          <a:lnRef idx="1">
            <a:schemeClr val="accent1"/>
          </a:lnRef>
          <a:fillRef idx="3">
            <a:schemeClr val="accent1"/>
          </a:fillRef>
          <a:effectRef idx="2">
            <a:schemeClr val="accent1"/>
          </a:effectRef>
          <a:fontRef idx="minor">
            <a:schemeClr val="lt1"/>
          </a:fontRef>
        </p:style>
        <p:txBody>
          <a:bodyPr rtlCol="0" anchor="ctr" wrap="square" lIns="88900" rIns="88900" tIns="88900" bIns="88900"/>
          <a:lstStyle/>
          <a:p>
            <a:pPr algn="ctr">
              <a:spcAft>
                <a:spcPts val="300"/>
              </a:spcAft>
              <a:defRPr sz="1700" b="1">
                <a:solidFill>
                  <a:srgbClr val="0EA5E9"/>
                </a:solidFill>
                <a:latin typeface="Calibri"/>
              </a:defRPr>
            </a:pPr>
            <a:r>
              <a:t>Quadrant 1: In-Scope Functional Capabilities</a:t>
            </a:r>
          </a:p>
          <a:p>
            <a:pPr>
              <a:spcAft>
                <a:spcPts val="100"/>
              </a:spcAft>
              <a:defRPr sz="1300">
                <a:solidFill>
                  <a:srgbClr val="FFFFFF"/>
                </a:solidFill>
                <a:latin typeface="Calibri"/>
              </a:defRPr>
            </a:pPr>
            <a:r>
              <a:t>• Handheld barcode receiving &amp; digital GRN generation</a:t>
            </a:r>
          </a:p>
          <a:p>
            <a:pPr>
              <a:spcAft>
                <a:spcPts val="100"/>
              </a:spcAft>
              <a:defRPr sz="1300">
                <a:solidFill>
                  <a:srgbClr val="FFFFFF"/>
                </a:solidFill>
                <a:latin typeface="Calibri"/>
              </a:defRPr>
            </a:pPr>
            <a:r>
              <a:t>• Directed spatial putaway (ABC turnover velocity)</a:t>
            </a:r>
          </a:p>
          <a:p>
            <a:pPr>
              <a:spcAft>
                <a:spcPts val="100"/>
              </a:spcAft>
              <a:defRPr sz="1300">
                <a:solidFill>
                  <a:srgbClr val="FFFFFF"/>
                </a:solidFill>
                <a:latin typeface="Calibri"/>
              </a:defRPr>
            </a:pPr>
            <a:r>
              <a:t>• Real-time FEFO batch ledger &amp; automated quarantine</a:t>
            </a:r>
          </a:p>
          <a:p>
            <a:pPr>
              <a:spcAft>
                <a:spcPts val="100"/>
              </a:spcAft>
              <a:defRPr sz="1300">
                <a:solidFill>
                  <a:srgbClr val="FFFFFF"/>
                </a:solidFill>
                <a:latin typeface="Calibri"/>
              </a:defRPr>
            </a:pPr>
            <a:r>
              <a:t>• Sub-2.0s atomic POS inventory deduction (SELECT ... FOR UPDATE SKIP LOCKED)</a:t>
            </a:r>
          </a:p>
          <a:p>
            <a:pPr>
              <a:spcAft>
                <a:spcPts val="100"/>
              </a:spcAft>
              <a:defRPr sz="1300">
                <a:solidFill>
                  <a:srgbClr val="FFFFFF"/>
                </a:solidFill>
                <a:latin typeface="Calibri"/>
              </a:defRPr>
            </a:pPr>
            <a:r>
              <a:t>• CatBoost Demand Forecasting &amp; Greasley dynamic safety stock</a:t>
            </a:r>
          </a:p>
          <a:p>
            <a:pPr>
              <a:spcAft>
                <a:spcPts val="100"/>
              </a:spcAft>
              <a:defRPr sz="1300">
                <a:solidFill>
                  <a:srgbClr val="FFFFFF"/>
                </a:solidFill>
                <a:latin typeface="Calibri"/>
              </a:defRPr>
            </a:pPr>
            <a:r>
              <a:t>• Blind cycle counting with supervisor discrepancy signoff</a:t>
            </a:r>
          </a:p>
          <a:p>
            <a:pPr>
              <a:spcAft>
                <a:spcPts val="100"/>
              </a:spcAft>
              <a:defRPr sz="1300">
                <a:solidFill>
                  <a:srgbClr val="FFFFFF"/>
                </a:solidFill>
                <a:latin typeface="Calibri"/>
              </a:defRPr>
            </a:pPr>
            <a:r>
              <a:t>• Rule-based shrinkage anomaly threshold alerts (&gt;3% variance)</a:t>
            </a:r>
          </a:p>
        </p:txBody>
      </p:sp>
      <p:sp>
        <p:nvSpPr>
          <p:cNvPr id="6" name="Rounded Rectangle 5"/>
          <p:cNvSpPr/>
          <p:nvPr/>
        </p:nvSpPr>
        <p:spPr>
          <a:xfrm>
            <a:off x="6217920" y="1463040"/>
            <a:ext cx="5212080" cy="2240280"/>
          </a:xfrm>
          <a:prstGeom prst="roundRect">
            <a:avLst/>
          </a:prstGeom>
          <a:solidFill>
            <a:srgbClr val="1E293B"/>
          </a:solidFill>
          <a:ln w="12700">
            <a:solidFill>
              <a:srgbClr val="10B981"/>
            </a:solidFill>
          </a:ln>
        </p:spPr>
        <p:style>
          <a:lnRef idx="1">
            <a:schemeClr val="accent1"/>
          </a:lnRef>
          <a:fillRef idx="3">
            <a:schemeClr val="accent1"/>
          </a:fillRef>
          <a:effectRef idx="2">
            <a:schemeClr val="accent1"/>
          </a:effectRef>
          <a:fontRef idx="minor">
            <a:schemeClr val="lt1"/>
          </a:fontRef>
        </p:style>
        <p:txBody>
          <a:bodyPr rtlCol="0" anchor="ctr" wrap="square" lIns="88900" rIns="88900" tIns="88900" bIns="88900"/>
          <a:lstStyle/>
          <a:p>
            <a:pPr algn="ctr">
              <a:spcAft>
                <a:spcPts val="300"/>
              </a:spcAft>
              <a:defRPr sz="1700" b="1">
                <a:solidFill>
                  <a:srgbClr val="10B981"/>
                </a:solidFill>
                <a:latin typeface="Calibri"/>
              </a:defRPr>
            </a:pPr>
            <a:r>
              <a:t>Quadrant 2: Pilot Operational Boundaries</a:t>
            </a:r>
          </a:p>
          <a:p>
            <a:pPr>
              <a:spcAft>
                <a:spcPts val="100"/>
              </a:spcAft>
              <a:defRPr sz="1300">
                <a:solidFill>
                  <a:srgbClr val="FFFFFF"/>
                </a:solidFill>
                <a:latin typeface="Calibri"/>
              </a:defRPr>
            </a:pPr>
            <a:r>
              <a:t>• Central Warehouse: 1 Central Distribution Center testbed</a:t>
            </a:r>
          </a:p>
          <a:p>
            <a:pPr>
              <a:spcAft>
                <a:spcPts val="100"/>
              </a:spcAft>
              <a:defRPr sz="1300">
                <a:solidFill>
                  <a:srgbClr val="FFFFFF"/>
                </a:solidFill>
                <a:latin typeface="Calibri"/>
              </a:defRPr>
            </a:pPr>
            <a:r>
              <a:t>• Retail Outlets: Up to 3 Retail Branch Store environments</a:t>
            </a:r>
          </a:p>
          <a:p>
            <a:pPr>
              <a:spcAft>
                <a:spcPts val="100"/>
              </a:spcAft>
              <a:defRPr sz="1300">
                <a:solidFill>
                  <a:srgbClr val="FFFFFF"/>
                </a:solidFill>
                <a:latin typeface="Calibri"/>
              </a:defRPr>
            </a:pPr>
            <a:r>
              <a:t>• Catalog Scale: 500 representative FMCG &amp; grocery SKUs</a:t>
            </a:r>
          </a:p>
          <a:p>
            <a:pPr>
              <a:spcAft>
                <a:spcPts val="100"/>
              </a:spcAft>
              <a:defRPr sz="1300">
                <a:solidFill>
                  <a:srgbClr val="FFFFFF"/>
                </a:solidFill>
                <a:latin typeface="Calibri"/>
              </a:defRPr>
            </a:pPr>
            <a:r>
              <a:t>• Concurrency Load: 10 concurrent POS registers + 10 floor scanners</a:t>
            </a:r>
          </a:p>
          <a:p>
            <a:pPr>
              <a:spcAft>
                <a:spcPts val="100"/>
              </a:spcAft>
              <a:defRPr sz="1300">
                <a:solidFill>
                  <a:srgbClr val="FFFFFF"/>
                </a:solidFill>
                <a:latin typeface="Calibri"/>
              </a:defRPr>
            </a:pPr>
            <a:r>
              <a:t>• Pilot Duration: 4 weeks of simulated operational runs</a:t>
            </a:r>
          </a:p>
          <a:p>
            <a:pPr>
              <a:spcAft>
                <a:spcPts val="100"/>
              </a:spcAft>
              <a:defRPr sz="1300">
                <a:solidFill>
                  <a:srgbClr val="FFFFFF"/>
                </a:solidFill>
                <a:latin typeface="Calibri"/>
              </a:defRPr>
            </a:pPr>
            <a:r>
              <a:t>• Geographic Scope: Metropolitan Dhaka retail environment</a:t>
            </a:r>
          </a:p>
        </p:txBody>
      </p:sp>
      <p:sp>
        <p:nvSpPr>
          <p:cNvPr id="7" name="Rounded Rectangle 6"/>
          <p:cNvSpPr/>
          <p:nvPr/>
        </p:nvSpPr>
        <p:spPr>
          <a:xfrm>
            <a:off x="731520" y="3931920"/>
            <a:ext cx="5212080" cy="2240280"/>
          </a:xfrm>
          <a:prstGeom prst="roundRect">
            <a:avLst/>
          </a:prstGeom>
          <a:solidFill>
            <a:srgbClr val="1E293B"/>
          </a:solidFill>
          <a:ln w="12700">
            <a:solidFill>
              <a:srgbClr val="F59E0B"/>
            </a:solidFill>
          </a:ln>
        </p:spPr>
        <p:style>
          <a:lnRef idx="1">
            <a:schemeClr val="accent1"/>
          </a:lnRef>
          <a:fillRef idx="3">
            <a:schemeClr val="accent1"/>
          </a:fillRef>
          <a:effectRef idx="2">
            <a:schemeClr val="accent1"/>
          </a:effectRef>
          <a:fontRef idx="minor">
            <a:schemeClr val="lt1"/>
          </a:fontRef>
        </p:style>
        <p:txBody>
          <a:bodyPr rtlCol="0" anchor="ctr" wrap="square" lIns="88900" rIns="88900" tIns="88900" bIns="88900"/>
          <a:lstStyle/>
          <a:p>
            <a:pPr algn="ctr">
              <a:spcAft>
                <a:spcPts val="300"/>
              </a:spcAft>
              <a:defRPr sz="1700" b="1">
                <a:solidFill>
                  <a:srgbClr val="F59E0B"/>
                </a:solidFill>
                <a:latin typeface="Calibri"/>
              </a:defRPr>
            </a:pPr>
            <a:r>
              <a:t>Quadrant 3: Technical &amp; Architectural Scope</a:t>
            </a:r>
          </a:p>
          <a:p>
            <a:pPr>
              <a:spcAft>
                <a:spcPts val="100"/>
              </a:spcAft>
              <a:defRPr sz="1300">
                <a:solidFill>
                  <a:srgbClr val="FFFFFF"/>
                </a:solidFill>
                <a:latin typeface="Calibri"/>
              </a:defRPr>
            </a:pPr>
            <a:r>
              <a:t>• Frontend: Next.js 14 PWA (TypeScript, Tailwind CSS)</a:t>
            </a:r>
          </a:p>
          <a:p>
            <a:pPr>
              <a:spcAft>
                <a:spcPts val="100"/>
              </a:spcAft>
              <a:defRPr sz="1300">
                <a:solidFill>
                  <a:srgbClr val="FFFFFF"/>
                </a:solidFill>
                <a:latin typeface="Calibri"/>
              </a:defRPr>
            </a:pPr>
            <a:r>
              <a:t>• Backend API: FastAPI asynchronous ASGI (Python 3.11+)</a:t>
            </a:r>
          </a:p>
          <a:p>
            <a:pPr>
              <a:spcAft>
                <a:spcPts val="100"/>
              </a:spcAft>
              <a:defRPr sz="1300">
                <a:solidFill>
                  <a:srgbClr val="FFFFFF"/>
                </a:solidFill>
                <a:latin typeface="Calibri"/>
              </a:defRPr>
            </a:pPr>
            <a:r>
              <a:t>• Relational Core: PostgreSQL 16 (3NF, ACID, Non-Blocking Row Locks)</a:t>
            </a:r>
          </a:p>
          <a:p>
            <a:pPr>
              <a:spcAft>
                <a:spcPts val="100"/>
              </a:spcAft>
              <a:defRPr sz="1300">
                <a:solidFill>
                  <a:srgbClr val="FFFFFF"/>
                </a:solidFill>
                <a:latin typeface="Calibri"/>
              </a:defRPr>
            </a:pPr>
            <a:r>
              <a:t>• In-Memory Tier: Redis 7 (Client-generated Idempotency Keys, Session Tokens)</a:t>
            </a:r>
          </a:p>
          <a:p>
            <a:pPr>
              <a:spcAft>
                <a:spcPts val="100"/>
              </a:spcAft>
              <a:defRPr sz="1300">
                <a:solidFill>
                  <a:srgbClr val="FFFFFF"/>
                </a:solidFill>
                <a:latin typeface="Calibri"/>
              </a:defRPr>
            </a:pPr>
            <a:r>
              <a:t>• ML Worker: Celery + Redis with CatBoost &amp; Daily 02:00 BST Quarantine Sweep</a:t>
            </a:r>
          </a:p>
          <a:p>
            <a:pPr>
              <a:spcAft>
                <a:spcPts val="100"/>
              </a:spcAft>
              <a:defRPr sz="1300">
                <a:solidFill>
                  <a:srgbClr val="FFFFFF"/>
                </a:solidFill>
                <a:latin typeface="Calibri"/>
              </a:defRPr>
            </a:pPr>
            <a:r>
              <a:t>• Deployment: Multi-container Docker Compose staging</a:t>
            </a:r>
          </a:p>
        </p:txBody>
      </p:sp>
      <p:sp>
        <p:nvSpPr>
          <p:cNvPr id="8" name="Rounded Rectangle 7"/>
          <p:cNvSpPr/>
          <p:nvPr/>
        </p:nvSpPr>
        <p:spPr>
          <a:xfrm>
            <a:off x="6217920" y="3931920"/>
            <a:ext cx="5212080" cy="2240280"/>
          </a:xfrm>
          <a:prstGeom prst="roundRect">
            <a:avLst/>
          </a:prstGeom>
          <a:solidFill>
            <a:srgbClr val="1E293B"/>
          </a:solidFill>
          <a:ln w="12700">
            <a:solidFill>
              <a:srgbClr val="F43F5E"/>
            </a:solidFill>
          </a:ln>
        </p:spPr>
        <p:style>
          <a:lnRef idx="1">
            <a:schemeClr val="accent1"/>
          </a:lnRef>
          <a:fillRef idx="3">
            <a:schemeClr val="accent1"/>
          </a:fillRef>
          <a:effectRef idx="2">
            <a:schemeClr val="accent1"/>
          </a:effectRef>
          <a:fontRef idx="minor">
            <a:schemeClr val="lt1"/>
          </a:fontRef>
        </p:style>
        <p:txBody>
          <a:bodyPr rtlCol="0" anchor="ctr" wrap="square" lIns="88900" rIns="88900" tIns="88900" bIns="88900"/>
          <a:lstStyle/>
          <a:p>
            <a:pPr algn="ctr">
              <a:spcAft>
                <a:spcPts val="300"/>
              </a:spcAft>
              <a:defRPr sz="1700" b="1">
                <a:solidFill>
                  <a:srgbClr val="F43F5E"/>
                </a:solidFill>
                <a:latin typeface="Calibri"/>
              </a:defRPr>
            </a:pPr>
            <a:r>
              <a:t>Quadrant 4: Explicit Out-of-Scope (Deliberately Excluded)</a:t>
            </a:r>
          </a:p>
          <a:p>
            <a:pPr>
              <a:spcAft>
                <a:spcPts val="100"/>
              </a:spcAft>
              <a:defRPr sz="1300">
                <a:solidFill>
                  <a:srgbClr val="FFFFFF"/>
                </a:solidFill>
                <a:latin typeface="Calibri"/>
              </a:defRPr>
            </a:pPr>
            <a:r>
              <a:t>• NO Full Corporate Accounting: No general ledger or payroll (exports CSV/JSON audit trails to external ERPs)</a:t>
            </a:r>
          </a:p>
          <a:p>
            <a:pPr>
              <a:spcAft>
                <a:spcPts val="100"/>
              </a:spcAft>
              <a:defRPr sz="1300">
                <a:solidFill>
                  <a:srgbClr val="FFFFFF"/>
                </a:solidFill>
                <a:latin typeface="Calibri"/>
              </a:defRPr>
            </a:pPr>
            <a:r>
              <a:t>• NO Warehouse Robotics: No physical automated cranes (AGVs) or motor conveyor belts</a:t>
            </a:r>
          </a:p>
          <a:p>
            <a:pPr>
              <a:spcAft>
                <a:spcPts val="100"/>
              </a:spcAft>
              <a:defRPr sz="1300">
                <a:solidFill>
                  <a:srgbClr val="FFFFFF"/>
                </a:solidFill>
                <a:latin typeface="Calibri"/>
              </a:defRPr>
            </a:pPr>
            <a:r>
              <a:t>• NO Consumer Delivery: No B2C grocery shopping or courier app</a:t>
            </a:r>
          </a:p>
          <a:p>
            <a:pPr>
              <a:spcAft>
                <a:spcPts val="100"/>
              </a:spcAft>
              <a:defRPr sz="1300">
                <a:solidFill>
                  <a:srgbClr val="FFFFFF"/>
                </a:solidFill>
                <a:latin typeface="Calibri"/>
              </a:defRPr>
            </a:pPr>
            <a:r>
              <a:t>• NO Merchant Payment Gateways: POS billing handles credit card/bKash settlement externally</a:t>
            </a:r>
          </a:p>
        </p:txBody>
      </p:sp>
    </p:spTree>
  </p:cSld>
  <p:clrMapOvr>
    <a:masterClrMapping/>
  </p:clrMapOvr>
</p:sld>
</file>

<file path=ppt/slides/slide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0F172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731520" y="320040"/>
            <a:ext cx="10728655" cy="1051560"/>
          </a:xfrm>
          <a:prstGeom prst="rect">
            <a:avLst/>
          </a:prstGeom>
          <a:noFill/>
        </p:spPr>
        <p:txBody>
          <a:bodyPr wrap="square" lIns="0" tIns="0" rIns="0" bIns="0">
            <a:spAutoFit/>
          </a:bodyPr>
          <a:lstStyle/>
          <a:p>
            <a:pPr>
              <a:spcAft>
                <a:spcPts val="200"/>
              </a:spcAft>
              <a:defRPr sz="1400" b="1">
                <a:solidFill>
                  <a:srgbClr val="0EA5E9"/>
                </a:solidFill>
                <a:latin typeface="Calibri"/>
              </a:defRPr>
            </a:pPr>
            <a:r>
              <a:t>TECHNICAL ARCHITECTURE</a:t>
            </a:r>
          </a:p>
          <a:p>
            <a:pPr>
              <a:defRPr sz="3000" b="1">
                <a:solidFill>
                  <a:srgbClr val="FFFFFF"/>
                </a:solidFill>
                <a:latin typeface="Calibri"/>
              </a:defRPr>
            </a:pPr>
            <a:r>
              <a:t>System Architecture: 4-Tier Cyber-Physical Design (Figure 1)</a:t>
            </a:r>
          </a:p>
        </p:txBody>
      </p:sp>
      <p:sp>
        <p:nvSpPr>
          <p:cNvPr id="4" name="TextBox 3"/>
          <p:cNvSpPr txBox="1"/>
          <p:nvPr/>
        </p:nvSpPr>
        <p:spPr>
          <a:xfrm>
            <a:off x="731520" y="6400800"/>
            <a:ext cx="10728655" cy="365760"/>
          </a:xfrm>
          <a:prstGeom prst="rect">
            <a:avLst/>
          </a:prstGeom>
          <a:noFill/>
        </p:spPr>
        <p:txBody>
          <a:bodyPr wrap="none" lIns="0" tIns="0" rIns="0" bIns="0">
            <a:spAutoFit/>
          </a:bodyPr>
          <a:lstStyle/>
          <a:p>
            <a:pPr>
              <a:defRPr sz="1200">
                <a:solidFill>
                  <a:srgbClr val="94A3B8"/>
                </a:solidFill>
                <a:latin typeface="Calibri"/>
              </a:defRPr>
            </a:pPr>
            <a:r>
              <a:t>RetailSync (SE-231 Capstone Project 2) • Department of Software Engineering, Daffodil International University | Slide 6 of 12</a:t>
            </a:r>
          </a:p>
        </p:txBody>
      </p:sp>
      <p:sp>
        <p:nvSpPr>
          <p:cNvPr id="5" name="Rounded Rectangle 4"/>
          <p:cNvSpPr/>
          <p:nvPr/>
        </p:nvSpPr>
        <p:spPr>
          <a:xfrm>
            <a:off x="731520" y="1463040"/>
            <a:ext cx="4206240" cy="4663440"/>
          </a:xfrm>
          <a:prstGeom prst="roundRect">
            <a:avLst/>
          </a:prstGeom>
          <a:solidFill>
            <a:srgbClr val="1E293B"/>
          </a:solidFill>
          <a:ln w="12700">
            <a:solidFill>
              <a:srgbClr val="0EA5E9"/>
            </a:solidFill>
          </a:ln>
        </p:spPr>
        <p:style>
          <a:lnRef idx="1">
            <a:schemeClr val="accent1"/>
          </a:lnRef>
          <a:fillRef idx="3">
            <a:schemeClr val="accent1"/>
          </a:fillRef>
          <a:effectRef idx="2">
            <a:schemeClr val="accent1"/>
          </a:effectRef>
          <a:fontRef idx="minor">
            <a:schemeClr val="lt1"/>
          </a:fontRef>
        </p:style>
        <p:txBody>
          <a:bodyPr rtlCol="0" anchor="ctr" wrap="square" lIns="88900" rIns="88900" tIns="88900" bIns="88900"/>
          <a:lstStyle/>
          <a:p>
            <a:pPr algn="ctr">
              <a:spcAft>
                <a:spcPts val="500"/>
              </a:spcAft>
              <a:defRPr sz="2000" b="1">
                <a:solidFill>
                  <a:srgbClr val="0EA5E9"/>
                </a:solidFill>
                <a:latin typeface="Calibri"/>
              </a:defRPr>
            </a:pPr>
            <a:r>
              <a:t>Decoupled 4-Tier Stack</a:t>
            </a:r>
          </a:p>
          <a:p>
            <a:pPr>
              <a:defRPr sz="1500" b="1">
                <a:solidFill>
                  <a:srgbClr val="38BDF8"/>
                </a:solidFill>
                <a:latin typeface="Calibri"/>
              </a:defRPr>
            </a:pPr>
            <a:r>
              <a:t>Tier 1: Client Edge (PWA &amp; Terminals)</a:t>
            </a:r>
          </a:p>
          <a:p>
            <a:pPr>
              <a:spcAft>
                <a:spcPts val="300"/>
              </a:spcAft>
              <a:defRPr sz="1300">
                <a:solidFill>
                  <a:srgbClr val="FFFFFF"/>
                </a:solidFill>
                <a:latin typeface="Calibri"/>
              </a:defRPr>
            </a:pPr>
            <a:r>
              <a:t>Next.js 14 PWA running on Android smartphones, tablets, and POS PCs. Pure JS barcode scanning (ZXing) with IndexedDB offline queue (&lt; 150ms UI response).</a:t>
            </a:r>
          </a:p>
          <a:p>
            <a:pPr>
              <a:defRPr sz="1500" b="1">
                <a:solidFill>
                  <a:srgbClr val="38BDF8"/>
                </a:solidFill>
                <a:latin typeface="Calibri"/>
              </a:defRPr>
            </a:pPr>
            <a:r>
              <a:t>Tier 2: Edge Gateway &amp; Security</a:t>
            </a:r>
          </a:p>
          <a:p>
            <a:pPr>
              <a:spcAft>
                <a:spcPts val="300"/>
              </a:spcAft>
              <a:defRPr sz="1300">
                <a:solidFill>
                  <a:srgbClr val="FFFFFF"/>
                </a:solidFill>
                <a:latin typeface="Calibri"/>
              </a:defRPr>
            </a:pPr>
            <a:r>
              <a:t>Nginx reverse proxy terminating TLS 1.3, managing JWT bearer token authentication and rate limiting (&lt; 10ms gateway overhead).</a:t>
            </a:r>
          </a:p>
          <a:p>
            <a:pPr>
              <a:defRPr sz="1500" b="1">
                <a:solidFill>
                  <a:srgbClr val="38BDF8"/>
                </a:solidFill>
                <a:latin typeface="Calibri"/>
              </a:defRPr>
            </a:pPr>
            <a:r>
              <a:t>Tier 3: Core Application &amp; AI Workers</a:t>
            </a:r>
          </a:p>
          <a:p>
            <a:pPr>
              <a:spcAft>
                <a:spcPts val="300"/>
              </a:spcAft>
              <a:defRPr sz="1300">
                <a:solidFill>
                  <a:srgbClr val="FFFFFF"/>
                </a:solidFill>
                <a:latin typeface="Calibri"/>
              </a:defRPr>
            </a:pPr>
            <a:r>
              <a:t>Python 3.11+ FastAPI asynchronous ASGI backend. Paired with Celery workers running CatBoost demand forecasting and scheduled quarantine sweeps (&lt; 180ms p95 SLA).</a:t>
            </a:r>
          </a:p>
          <a:p>
            <a:pPr>
              <a:defRPr sz="1500" b="1">
                <a:solidFill>
                  <a:srgbClr val="38BDF8"/>
                </a:solidFill>
                <a:latin typeface="Calibri"/>
              </a:defRPr>
            </a:pPr>
            <a:r>
              <a:t>Tier 4: Enterprise Persistence &amp; Cache</a:t>
            </a:r>
          </a:p>
          <a:p>
            <a:pPr>
              <a:spcAft>
                <a:spcPts val="300"/>
              </a:spcAft>
              <a:defRPr sz="1300">
                <a:solidFill>
                  <a:srgbClr val="FFFFFF"/>
                </a:solidFill>
                <a:latin typeface="Calibri"/>
              </a:defRPr>
            </a:pPr>
            <a:r>
              <a:t>PostgreSQL 16 relational database with strict 3NF schema, row-level locks, and composite B-Trees. Redis 7 for distributed locks and idempotency caching (&lt; 50ms commit).</a:t>
            </a:r>
          </a:p>
        </p:txBody>
      </p:sp>
      <p:pic>
        <p:nvPicPr>
          <p:cNvPr id="6" name="Picture 5" descr="figure1_system_architecture.png"/>
          <p:cNvPicPr>
            <a:picLocks noChangeAspect="1"/>
          </p:cNvPicPr>
          <p:nvPr/>
        </p:nvPicPr>
        <p:blipFill>
          <a:blip r:embed="rId2"/>
          <a:stretch>
            <a:fillRect/>
          </a:stretch>
        </p:blipFill>
        <p:spPr>
          <a:xfrm>
            <a:off x="5120640" y="1463040"/>
            <a:ext cx="6309360" cy="3890772"/>
          </a:xfrm>
          <a:prstGeom prst="rect">
            <a:avLst/>
          </a:prstGeom>
        </p:spPr>
      </p:pic>
    </p:spTree>
  </p:cSld>
  <p:clrMapOvr>
    <a:masterClrMapping/>
  </p:clrMapOvr>
</p:sld>
</file>

<file path=ppt/slides/slide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0F172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731520" y="320040"/>
            <a:ext cx="10728655" cy="1051560"/>
          </a:xfrm>
          <a:prstGeom prst="rect">
            <a:avLst/>
          </a:prstGeom>
          <a:noFill/>
        </p:spPr>
        <p:txBody>
          <a:bodyPr wrap="square" lIns="0" tIns="0" rIns="0" bIns="0">
            <a:spAutoFit/>
          </a:bodyPr>
          <a:lstStyle/>
          <a:p>
            <a:pPr>
              <a:spcAft>
                <a:spcPts val="200"/>
              </a:spcAft>
              <a:defRPr sz="1400" b="1">
                <a:solidFill>
                  <a:srgbClr val="0EA5E9"/>
                </a:solidFill>
                <a:latin typeface="Calibri"/>
              </a:defRPr>
            </a:pPr>
            <a:r>
              <a:t>FLOOR LIFECYCLE &amp; PROCESS FLOW</a:t>
            </a:r>
          </a:p>
          <a:p>
            <a:pPr>
              <a:defRPr sz="3000" b="1">
                <a:solidFill>
                  <a:srgbClr val="FFFFFF"/>
                </a:solidFill>
                <a:latin typeface="Calibri"/>
              </a:defRPr>
            </a:pPr>
            <a:r>
              <a:t>Operational Flow: Inbound Receiving to POS Checkout (Figure 2)</a:t>
            </a:r>
          </a:p>
        </p:txBody>
      </p:sp>
      <p:sp>
        <p:nvSpPr>
          <p:cNvPr id="4" name="TextBox 3"/>
          <p:cNvSpPr txBox="1"/>
          <p:nvPr/>
        </p:nvSpPr>
        <p:spPr>
          <a:xfrm>
            <a:off x="731520" y="6400800"/>
            <a:ext cx="10728655" cy="365760"/>
          </a:xfrm>
          <a:prstGeom prst="rect">
            <a:avLst/>
          </a:prstGeom>
          <a:noFill/>
        </p:spPr>
        <p:txBody>
          <a:bodyPr wrap="none" lIns="0" tIns="0" rIns="0" bIns="0">
            <a:spAutoFit/>
          </a:bodyPr>
          <a:lstStyle/>
          <a:p>
            <a:pPr>
              <a:defRPr sz="1200">
                <a:solidFill>
                  <a:srgbClr val="94A3B8"/>
                </a:solidFill>
                <a:latin typeface="Calibri"/>
              </a:defRPr>
            </a:pPr>
            <a:r>
              <a:t>RetailSync (SE-231 Capstone Project 2) • Department of Software Engineering, Daffodil International University | Slide 7 of 12</a:t>
            </a:r>
          </a:p>
        </p:txBody>
      </p:sp>
      <p:sp>
        <p:nvSpPr>
          <p:cNvPr id="5" name="Rounded Rectangle 4"/>
          <p:cNvSpPr/>
          <p:nvPr/>
        </p:nvSpPr>
        <p:spPr>
          <a:xfrm>
            <a:off x="731520" y="1463040"/>
            <a:ext cx="4206240" cy="4663440"/>
          </a:xfrm>
          <a:prstGeom prst="roundRect">
            <a:avLst/>
          </a:prstGeom>
          <a:solidFill>
            <a:srgbClr val="1E293B"/>
          </a:solidFill>
          <a:ln w="12700">
            <a:solidFill>
              <a:srgbClr val="10B981"/>
            </a:solidFill>
          </a:ln>
        </p:spPr>
        <p:style>
          <a:lnRef idx="1">
            <a:schemeClr val="accent1"/>
          </a:lnRef>
          <a:fillRef idx="3">
            <a:schemeClr val="accent1"/>
          </a:fillRef>
          <a:effectRef idx="2">
            <a:schemeClr val="accent1"/>
          </a:effectRef>
          <a:fontRef idx="minor">
            <a:schemeClr val="lt1"/>
          </a:fontRef>
        </p:style>
        <p:txBody>
          <a:bodyPr rtlCol="0" anchor="ctr" wrap="square" lIns="88900" rIns="88900" tIns="88900" bIns="88900"/>
          <a:lstStyle/>
          <a:p>
            <a:pPr algn="ctr">
              <a:spcAft>
                <a:spcPts val="500"/>
              </a:spcAft>
              <a:defRPr sz="2000" b="1">
                <a:solidFill>
                  <a:srgbClr val="10B981"/>
                </a:solidFill>
                <a:latin typeface="Calibri"/>
              </a:defRPr>
            </a:pPr>
            <a:r>
              <a:t>7-Stage Floor Goods Journey</a:t>
            </a:r>
          </a:p>
          <a:p>
            <a:pPr>
              <a:spcAft>
                <a:spcPts val="300"/>
              </a:spcAft>
              <a:defRPr sz="1350">
                <a:solidFill>
                  <a:srgbClr val="FFFFFF"/>
                </a:solidFill>
                <a:latin typeface="Calibri"/>
              </a:defRPr>
            </a:pPr>
            <a:r>
              <a:t>1. Supplier Dock Arrival: Cartons scanned against digital PO; expiration date and damaged units captured.</a:t>
            </a:r>
          </a:p>
          <a:p>
            <a:pPr>
              <a:spcAft>
                <a:spcPts val="300"/>
              </a:spcAft>
              <a:defRPr sz="1350">
                <a:solidFill>
                  <a:srgbClr val="FFFFFF"/>
                </a:solidFill>
                <a:latin typeface="Calibri"/>
              </a:defRPr>
            </a:pPr>
            <a:r>
              <a:t>2. Inbound GRN Generation: Digital Goods Receipt Note generated instantly; variance auto-credited.</a:t>
            </a:r>
          </a:p>
          <a:p>
            <a:pPr>
              <a:spcAft>
                <a:spcPts val="300"/>
              </a:spcAft>
              <a:defRPr sz="1350">
                <a:solidFill>
                  <a:srgbClr val="FFFFFF"/>
                </a:solidFill>
                <a:latin typeface="Calibri"/>
              </a:defRPr>
            </a:pPr>
            <a:r>
              <a:t>3. Directed Spatial Putaway: Optimal bin (Zone-Aisle-Rack-Shelf) suggested by SKU velocity &amp; temp.</a:t>
            </a:r>
          </a:p>
          <a:p>
            <a:pPr>
              <a:spcAft>
                <a:spcPts val="300"/>
              </a:spcAft>
              <a:defRPr sz="1350">
                <a:solidFill>
                  <a:srgbClr val="FFFFFF"/>
                </a:solidFill>
                <a:latin typeface="Calibri"/>
              </a:defRPr>
            </a:pPr>
            <a:r>
              <a:t>4. Real-time FEFO Ledger: Batch added to FEFO queue; batches ≤ 3 days to expiry auto-quarantined.</a:t>
            </a:r>
          </a:p>
          <a:p>
            <a:pPr>
              <a:spcAft>
                <a:spcPts val="300"/>
              </a:spcAft>
              <a:defRPr sz="1350">
                <a:solidFill>
                  <a:srgbClr val="FFFFFF"/>
                </a:solidFill>
                <a:latin typeface="Calibri"/>
              </a:defRPr>
            </a:pPr>
            <a:r>
              <a:t>5. Multi-Store Wave Picking: Consolidated store requisitions picked via shortest-path routing.</a:t>
            </a:r>
          </a:p>
          <a:p>
            <a:pPr>
              <a:spcAft>
                <a:spcPts val="300"/>
              </a:spcAft>
              <a:defRPr sz="1350">
                <a:solidFill>
                  <a:srgbClr val="FFFFFF"/>
                </a:solidFill>
                <a:latin typeface="Calibri"/>
              </a:defRPr>
            </a:pPr>
            <a:r>
              <a:t>6. Sub-2s POS Checkout: Pessimistic row lock decrements earliest batch atomically in &lt; 800ms.</a:t>
            </a:r>
          </a:p>
          <a:p>
            <a:pPr>
              <a:spcAft>
                <a:spcPts val="300"/>
              </a:spcAft>
              <a:defRPr sz="1350">
                <a:solidFill>
                  <a:srgbClr val="FFFFFF"/>
                </a:solidFill>
                <a:latin typeface="Calibri"/>
              </a:defRPr>
            </a:pPr>
            <a:r>
              <a:t>7. Blind Cycle Count Audit: Quantities hidden on staff sheets; discrepancy reconciliation with signoff.</a:t>
            </a:r>
          </a:p>
        </p:txBody>
      </p:sp>
      <p:pic>
        <p:nvPicPr>
          <p:cNvPr id="6" name="Picture 5" descr="figure2_operational_flow.png"/>
          <p:cNvPicPr>
            <a:picLocks noChangeAspect="1"/>
          </p:cNvPicPr>
          <p:nvPr/>
        </p:nvPicPr>
        <p:blipFill>
          <a:blip r:embed="rId2"/>
          <a:stretch>
            <a:fillRect/>
          </a:stretch>
        </p:blipFill>
        <p:spPr>
          <a:xfrm>
            <a:off x="5120640" y="1463040"/>
            <a:ext cx="6309360" cy="3627882"/>
          </a:xfrm>
          <a:prstGeom prst="rect">
            <a:avLst/>
          </a:prstGeom>
        </p:spPr>
      </p:pic>
    </p:spTree>
  </p:cSld>
  <p:clrMapOvr>
    <a:masterClrMapping/>
  </p:clrMapOvr>
</p:sld>
</file>

<file path=ppt/slides/slide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0F172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731520" y="320040"/>
            <a:ext cx="10728655" cy="1051560"/>
          </a:xfrm>
          <a:prstGeom prst="rect">
            <a:avLst/>
          </a:prstGeom>
          <a:noFill/>
        </p:spPr>
        <p:txBody>
          <a:bodyPr wrap="square" lIns="0" tIns="0" rIns="0" bIns="0">
            <a:spAutoFit/>
          </a:bodyPr>
          <a:lstStyle/>
          <a:p>
            <a:pPr>
              <a:spcAft>
                <a:spcPts val="200"/>
              </a:spcAft>
              <a:defRPr sz="1400" b="1">
                <a:solidFill>
                  <a:srgbClr val="0EA5E9"/>
                </a:solidFill>
                <a:latin typeface="Calibri"/>
              </a:defRPr>
            </a:pPr>
            <a:r>
              <a:t>DECISION SUPPORT SYSTEM (M-07)</a:t>
            </a:r>
          </a:p>
          <a:p>
            <a:pPr>
              <a:defRPr sz="3000" b="1">
                <a:solidFill>
                  <a:srgbClr val="FFFFFF"/>
                </a:solidFill>
                <a:latin typeface="Calibri"/>
              </a:defRPr>
            </a:pPr>
            <a:r>
              <a:t>AI Demand Forecasting &amp; Greasley Dynamic Safety Stock (Figure 3)</a:t>
            </a:r>
          </a:p>
        </p:txBody>
      </p:sp>
      <p:sp>
        <p:nvSpPr>
          <p:cNvPr id="4" name="TextBox 3"/>
          <p:cNvSpPr txBox="1"/>
          <p:nvPr/>
        </p:nvSpPr>
        <p:spPr>
          <a:xfrm>
            <a:off x="731520" y="6400800"/>
            <a:ext cx="10728655" cy="365760"/>
          </a:xfrm>
          <a:prstGeom prst="rect">
            <a:avLst/>
          </a:prstGeom>
          <a:noFill/>
        </p:spPr>
        <p:txBody>
          <a:bodyPr wrap="none" lIns="0" tIns="0" rIns="0" bIns="0">
            <a:spAutoFit/>
          </a:bodyPr>
          <a:lstStyle/>
          <a:p>
            <a:pPr>
              <a:defRPr sz="1200">
                <a:solidFill>
                  <a:srgbClr val="94A3B8"/>
                </a:solidFill>
                <a:latin typeface="Calibri"/>
              </a:defRPr>
            </a:pPr>
            <a:r>
              <a:t>RetailSync (SE-231 Capstone Project 2) • Department of Software Engineering, Daffodil International University | Slide 8 of 12</a:t>
            </a:r>
          </a:p>
        </p:txBody>
      </p:sp>
      <p:sp>
        <p:nvSpPr>
          <p:cNvPr id="5" name="Rounded Rectangle 4"/>
          <p:cNvSpPr/>
          <p:nvPr/>
        </p:nvSpPr>
        <p:spPr>
          <a:xfrm>
            <a:off x="731520" y="1463040"/>
            <a:ext cx="4389120" cy="4663440"/>
          </a:xfrm>
          <a:prstGeom prst="roundRect">
            <a:avLst/>
          </a:prstGeom>
          <a:solidFill>
            <a:srgbClr val="1E293B"/>
          </a:solidFill>
          <a:ln w="12700">
            <a:solidFill>
              <a:srgbClr val="A855F7"/>
            </a:solidFill>
          </a:ln>
        </p:spPr>
        <p:style>
          <a:lnRef idx="1">
            <a:schemeClr val="accent1"/>
          </a:lnRef>
          <a:fillRef idx="3">
            <a:schemeClr val="accent1"/>
          </a:fillRef>
          <a:effectRef idx="2">
            <a:schemeClr val="accent1"/>
          </a:effectRef>
          <a:fontRef idx="minor">
            <a:schemeClr val="lt1"/>
          </a:fontRef>
        </p:style>
        <p:txBody>
          <a:bodyPr rtlCol="0" anchor="ctr" wrap="square" lIns="88900" rIns="88900" tIns="88900" bIns="88900"/>
          <a:lstStyle/>
          <a:p>
            <a:pPr algn="ctr">
              <a:spcAft>
                <a:spcPts val="400"/>
              </a:spcAft>
              <a:defRPr sz="2000" b="1">
                <a:solidFill>
                  <a:srgbClr val="A855F7"/>
                </a:solidFill>
                <a:latin typeface="Calibri"/>
              </a:defRPr>
            </a:pPr>
            <a:r>
              <a:t>Why Static Reorder Points Fail</a:t>
            </a:r>
          </a:p>
          <a:p>
            <a:pPr>
              <a:spcAft>
                <a:spcPts val="400"/>
              </a:spcAft>
              <a:defRPr sz="1350">
                <a:solidFill>
                  <a:srgbClr val="FFFFFF"/>
                </a:solidFill>
                <a:latin typeface="Calibri"/>
              </a:defRPr>
            </a:pPr>
            <a:r>
              <a:t>• The Flaw of Classic EOQ: Traditional inventory models assume constant demand (d). In Bangladeshi retail, demand surges 300% during Ramadan, Eid, and payday weekends.</a:t>
            </a:r>
          </a:p>
          <a:p>
            <a:pPr>
              <a:spcAft>
                <a:spcPts val="400"/>
              </a:spcAft>
              <a:defRPr sz="1350">
                <a:solidFill>
                  <a:srgbClr val="FFFFFF"/>
                </a:solidFill>
                <a:latin typeface="Calibri"/>
              </a:defRPr>
            </a:pPr>
            <a:r>
              <a:t>• CatBoost Multi-Horizon Predictor: Trains gradient boosted decision trees over historical POS sales. Features include 7-day lags, rolling statistics, and native categorical festival calendar embeddings.</a:t>
            </a:r>
          </a:p>
          <a:p>
            <a:pPr>
              <a:spcAft>
                <a:spcPts val="400"/>
              </a:spcAft>
              <a:defRPr sz="1350">
                <a:solidFill>
                  <a:srgbClr val="FFFFFF"/>
                </a:solidFill>
                <a:latin typeface="Calibri"/>
              </a:defRPr>
            </a:pPr>
            <a:r>
              <a:t>• Festival Calendar Awareness: Native handling of categorical flags for Ramadan (Iftar rushes), Eid-ul-Fitr, Eid-ul-Adha, and corporate salary disbursement cycles (1st to 7th of each month) without target leakage.</a:t>
            </a:r>
          </a:p>
          <a:p>
            <a:pPr>
              <a:spcAft>
                <a:spcPts val="400"/>
              </a:spcAft>
              <a:defRPr sz="1350">
                <a:solidFill>
                  <a:srgbClr val="FFFFFF"/>
                </a:solidFill>
                <a:latin typeface="Calibri"/>
              </a:defRPr>
            </a:pPr>
            <a:r>
              <a:t>• Greasley Dynamic Formula:</a:t>
            </a:r>
            <a:br/>
            <a:r>
              <a:t>SS = Z × √((L̄ × σ_d²) + (d_hat² × σ_L²))</a:t>
            </a:r>
            <a:br/>
            <a:r>
              <a:t>ROP = (d_hat × L̄) + SS</a:t>
            </a:r>
            <a:br/>
            <a:r>
              <a:t>By replacing static demand with AI-predicted demand (d_hat), replenishment orders trigger 10 days in advance of holiday surges.</a:t>
            </a:r>
          </a:p>
        </p:txBody>
      </p:sp>
      <p:pic>
        <p:nvPicPr>
          <p:cNvPr id="6" name="Picture 5" descr="figure3_ai_forecasting_pipeline.png"/>
          <p:cNvPicPr>
            <a:picLocks noChangeAspect="1"/>
          </p:cNvPicPr>
          <p:nvPr/>
        </p:nvPicPr>
        <p:blipFill>
          <a:blip r:embed="rId2"/>
          <a:stretch>
            <a:fillRect/>
          </a:stretch>
        </p:blipFill>
        <p:spPr>
          <a:xfrm>
            <a:off x="5303520" y="1463040"/>
            <a:ext cx="6126480" cy="3522726"/>
          </a:xfrm>
          <a:prstGeom prst="rect">
            <a:avLst/>
          </a:prstGeom>
        </p:spPr>
      </p:pic>
    </p:spTree>
  </p:cSld>
  <p:clrMapOvr>
    <a:masterClrMapping/>
  </p:clrMapOvr>
</p:sld>
</file>

<file path=ppt/slides/slide9.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0F172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731520" y="320040"/>
            <a:ext cx="10728655" cy="1051560"/>
          </a:xfrm>
          <a:prstGeom prst="rect">
            <a:avLst/>
          </a:prstGeom>
          <a:noFill/>
        </p:spPr>
        <p:txBody>
          <a:bodyPr wrap="square" lIns="0" tIns="0" rIns="0" bIns="0">
            <a:spAutoFit/>
          </a:bodyPr>
          <a:lstStyle/>
          <a:p>
            <a:pPr>
              <a:spcAft>
                <a:spcPts val="200"/>
              </a:spcAft>
              <a:defRPr sz="1400" b="1">
                <a:solidFill>
                  <a:srgbClr val="0EA5E9"/>
                </a:solidFill>
                <a:latin typeface="Calibri"/>
              </a:defRPr>
            </a:pPr>
            <a:r>
              <a:t>CONCURRENCY CONTROL &amp; HARDWARE</a:t>
            </a:r>
          </a:p>
          <a:p>
            <a:pPr>
              <a:defRPr sz="3000" b="1">
                <a:solidFill>
                  <a:srgbClr val="FFFFFF"/>
                </a:solidFill>
                <a:latin typeface="Calibri"/>
              </a:defRPr>
            </a:pPr>
            <a:r>
              <a:t>High-Velocity Concurrency &amp; The Frugal Hardware Model</a:t>
            </a:r>
          </a:p>
        </p:txBody>
      </p:sp>
      <p:sp>
        <p:nvSpPr>
          <p:cNvPr id="4" name="TextBox 3"/>
          <p:cNvSpPr txBox="1"/>
          <p:nvPr/>
        </p:nvSpPr>
        <p:spPr>
          <a:xfrm>
            <a:off x="731520" y="6400800"/>
            <a:ext cx="10728655" cy="365760"/>
          </a:xfrm>
          <a:prstGeom prst="rect">
            <a:avLst/>
          </a:prstGeom>
          <a:noFill/>
        </p:spPr>
        <p:txBody>
          <a:bodyPr wrap="none" lIns="0" tIns="0" rIns="0" bIns="0">
            <a:spAutoFit/>
          </a:bodyPr>
          <a:lstStyle/>
          <a:p>
            <a:pPr>
              <a:defRPr sz="1200">
                <a:solidFill>
                  <a:srgbClr val="94A3B8"/>
                </a:solidFill>
                <a:latin typeface="Calibri"/>
              </a:defRPr>
            </a:pPr>
            <a:r>
              <a:t>RetailSync (SE-231 Capstone Project 2) • Department of Software Engineering, Daffodil International University | Slide 9 of 12</a:t>
            </a:r>
          </a:p>
        </p:txBody>
      </p:sp>
      <p:sp>
        <p:nvSpPr>
          <p:cNvPr id="5" name="Rounded Rectangle 4"/>
          <p:cNvSpPr/>
          <p:nvPr/>
        </p:nvSpPr>
        <p:spPr>
          <a:xfrm>
            <a:off x="731520" y="1463040"/>
            <a:ext cx="5212080" cy="4663440"/>
          </a:xfrm>
          <a:prstGeom prst="roundRect">
            <a:avLst/>
          </a:prstGeom>
          <a:solidFill>
            <a:srgbClr val="1E293B"/>
          </a:solidFill>
          <a:ln w="12700">
            <a:solidFill>
              <a:srgbClr val="0EA5E9"/>
            </a:solidFill>
          </a:ln>
        </p:spPr>
        <p:style>
          <a:lnRef idx="1">
            <a:schemeClr val="accent1"/>
          </a:lnRef>
          <a:fillRef idx="3">
            <a:schemeClr val="accent1"/>
          </a:fillRef>
          <a:effectRef idx="2">
            <a:schemeClr val="accent1"/>
          </a:effectRef>
          <a:fontRef idx="minor">
            <a:schemeClr val="lt1"/>
          </a:fontRef>
        </p:style>
        <p:txBody>
          <a:bodyPr rtlCol="0" anchor="ctr" wrap="square" lIns="88900" rIns="88900" tIns="88900" bIns="88900"/>
          <a:lstStyle/>
          <a:p>
            <a:pPr algn="ctr">
              <a:spcAft>
                <a:spcPts val="400"/>
              </a:spcAft>
              <a:defRPr sz="1950" b="1">
                <a:solidFill>
                  <a:srgbClr val="0EA5E9"/>
                </a:solidFill>
                <a:latin typeface="Calibri"/>
              </a:defRPr>
            </a:pPr>
            <a:r>
              <a:t>Pessimistic Row-Level Locking in PostgreSQL</a:t>
            </a:r>
          </a:p>
          <a:p>
            <a:pPr>
              <a:spcAft>
                <a:spcPts val="400"/>
              </a:spcAft>
              <a:defRPr sz="1350">
                <a:solidFill>
                  <a:srgbClr val="FFFFFF"/>
                </a:solidFill>
                <a:latin typeface="Calibri"/>
              </a:defRPr>
            </a:pPr>
            <a:r>
              <a:t>• The Rush-Hour Race Condition: At 8:45 PM on Eid Eve, 3 cashiers simultaneously scan the last carton of Aarong Milk. Without locking, all 3 transactions read stock=1 and decrement, causing negative inventory and overselling.</a:t>
            </a:r>
          </a:p>
          <a:p>
            <a:pPr>
              <a:spcAft>
                <a:spcPts val="400"/>
              </a:spcAft>
              <a:defRPr sz="1350">
                <a:solidFill>
                  <a:srgbClr val="FFFFFF"/>
                </a:solidFill>
                <a:latin typeface="Calibri"/>
              </a:defRPr>
            </a:pPr>
            <a:r>
              <a:t>• The RetailSync Solution: Our POS sync route queries PostgreSQL 16 with exclusive row-level locking:</a:t>
            </a:r>
          </a:p>
          <a:p>
            <a:pPr>
              <a:spcAft>
                <a:spcPts val="400"/>
              </a:spcAft>
              <a:defRPr sz="1300">
                <a:solidFill>
                  <a:srgbClr val="F59E0B"/>
                </a:solidFill>
                <a:latin typeface="Consolas"/>
              </a:defRPr>
            </a:pPr>
            <a:r>
              <a:t>SELECT batch_id, current_quantity</a:t>
            </a:r>
            <a:br/>
            <a:r>
              <a:t>FROM product_batches</a:t>
            </a:r>
            <a:br/>
            <a:r>
              <a:t>WHERE product_id = :p_id AND current_quantity &gt; 0</a:t>
            </a:r>
            <a:br/>
            <a:r>
              <a:t>ORDER BY expiry_date ASC LIMIT 1</a:t>
            </a:r>
            <a:br/>
            <a:r>
              <a:t>FOR UPDATE;</a:t>
            </a:r>
          </a:p>
          <a:p>
            <a:pPr>
              <a:spcAft>
                <a:spcPts val="400"/>
              </a:spcAft>
              <a:defRPr sz="1350">
                <a:solidFill>
                  <a:srgbClr val="FFFFFF"/>
                </a:solidFill>
                <a:latin typeface="Calibri"/>
              </a:defRPr>
            </a:pPr>
            <a:r>
              <a:t>• Deterministic Serialization: Lane 1 acquires the lock, decrements stock 1 -&gt; 0, and commits. Lane 2 and Lane 3 safely evaluate current_quantity = 0 and return clean HTTP 409 Conflict with suggested alternative batches. Zero oversell.</a:t>
            </a:r>
          </a:p>
        </p:txBody>
      </p:sp>
      <p:sp>
        <p:nvSpPr>
          <p:cNvPr id="6" name="Rounded Rectangle 5"/>
          <p:cNvSpPr/>
          <p:nvPr/>
        </p:nvSpPr>
        <p:spPr>
          <a:xfrm>
            <a:off x="6217920" y="1463040"/>
            <a:ext cx="5212080" cy="4663440"/>
          </a:xfrm>
          <a:prstGeom prst="roundRect">
            <a:avLst/>
          </a:prstGeom>
          <a:solidFill>
            <a:srgbClr val="1E293B"/>
          </a:solidFill>
          <a:ln w="12700">
            <a:solidFill>
              <a:srgbClr val="10B981"/>
            </a:solidFill>
          </a:ln>
        </p:spPr>
        <p:style>
          <a:lnRef idx="1">
            <a:schemeClr val="accent1"/>
          </a:lnRef>
          <a:fillRef idx="3">
            <a:schemeClr val="accent1"/>
          </a:fillRef>
          <a:effectRef idx="2">
            <a:schemeClr val="accent1"/>
          </a:effectRef>
          <a:fontRef idx="minor">
            <a:schemeClr val="lt1"/>
          </a:fontRef>
        </p:style>
        <p:txBody>
          <a:bodyPr rtlCol="0" anchor="ctr" wrap="square" lIns="88900" rIns="88900" tIns="88900" bIns="88900"/>
          <a:lstStyle/>
          <a:p>
            <a:pPr algn="ctr">
              <a:spcAft>
                <a:spcPts val="400"/>
              </a:spcAft>
              <a:defRPr sz="1950" b="1">
                <a:solidFill>
                  <a:srgbClr val="10B981"/>
                </a:solidFill>
                <a:latin typeface="Calibri"/>
              </a:defRPr>
            </a:pPr>
            <a:r>
              <a:t>Frugal Hardware Strategy (90% Capex Cut)</a:t>
            </a:r>
          </a:p>
          <a:p>
            <a:pPr>
              <a:spcAft>
                <a:spcPts val="400"/>
              </a:spcAft>
              <a:defRPr sz="1350">
                <a:solidFill>
                  <a:srgbClr val="FFFFFF"/>
                </a:solidFill>
                <a:latin typeface="Calibri"/>
              </a:defRPr>
            </a:pPr>
            <a:r>
              <a:t>• The Enterprise ERP Trap: Traditional WMS vendors mandate industrial ruggedized scanners (e.g., Zebra TC52) costing upwards of 60,000 BDT per unit. For a chain with 20 branches, this requires over 1.2M BDT in terminal hardware alone.</a:t>
            </a:r>
          </a:p>
          <a:p>
            <a:pPr>
              <a:spcAft>
                <a:spcPts val="400"/>
              </a:spcAft>
              <a:defRPr sz="1350">
                <a:solidFill>
                  <a:srgbClr val="FFFFFF"/>
                </a:solidFill>
                <a:latin typeface="Calibri"/>
              </a:defRPr>
            </a:pPr>
            <a:r>
              <a:t>• The RetailSync Alternative: We pair commodity Android smartphones (12,000 BDT) with ergonomic Bluetooth HID barcode trigger grips (3,800 BDT). Total station cost: ~15,800 BDT.</a:t>
            </a:r>
          </a:p>
          <a:p>
            <a:pPr>
              <a:spcAft>
                <a:spcPts val="400"/>
              </a:spcAft>
              <a:defRPr sz="1350">
                <a:solidFill>
                  <a:srgbClr val="FFFFFF"/>
                </a:solidFill>
                <a:latin typeface="Calibri"/>
              </a:defRPr>
            </a:pPr>
            <a:r>
              <a:t>• Performance Validation: WebAssembly-accelerated ZXing decodes standard EAN-13 and Code-128 barcodes in ≤ 350ms, matching industrial hardware speeds at a fraction of the price.</a:t>
            </a:r>
          </a:p>
          <a:p>
            <a:pPr>
              <a:spcAft>
                <a:spcPts val="400"/>
              </a:spcAft>
              <a:defRPr sz="1350">
                <a:solidFill>
                  <a:srgbClr val="FFFFFF"/>
                </a:solidFill>
                <a:latin typeface="Calibri"/>
              </a:defRPr>
            </a:pPr>
            <a:r>
              <a:t>• Audio/Haptic Feedback: Positive beep confirmation on scan ensures warehouse operators can pick rapidly without staring constantly at the screen.</a:t>
            </a:r>
          </a:p>
        </p:txBody>
      </p:sp>
    </p:spTree>
  </p:cSld>
  <p:clrMapOvr>
    <a:masterClrMapping/>
  </p:clrMapOvr>
</p:sld>
</file>

<file path=ppt/slides/slide10.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0F172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731520" y="320040"/>
            <a:ext cx="10728655" cy="1051560"/>
          </a:xfrm>
          <a:prstGeom prst="rect">
            <a:avLst/>
          </a:prstGeom>
          <a:noFill/>
        </p:spPr>
        <p:txBody>
          <a:bodyPr wrap="square" lIns="0" tIns="0" rIns="0" bIns="0">
            <a:spAutoFit/>
          </a:bodyPr>
          <a:lstStyle/>
          <a:p>
            <a:pPr>
              <a:spcAft>
                <a:spcPts val="200"/>
              </a:spcAft>
              <a:defRPr sz="1400" b="1">
                <a:solidFill>
                  <a:srgbClr val="0EA5E9"/>
                </a:solidFill>
                <a:latin typeface="Calibri"/>
              </a:defRPr>
            </a:pPr>
            <a:r>
              <a:t>PROJECT EXECUTION &amp; SCHEDULE</a:t>
            </a:r>
          </a:p>
          <a:p>
            <a:pPr>
              <a:defRPr sz="3000" b="1">
                <a:solidFill>
                  <a:srgbClr val="FFFFFF"/>
                </a:solidFill>
                <a:latin typeface="Calibri"/>
              </a:defRPr>
            </a:pPr>
            <a:r>
              <a:t>14-Week Agile Scrum Roadmap &amp; Scenario Acceptance Gates (Figure 4)</a:t>
            </a:r>
          </a:p>
        </p:txBody>
      </p:sp>
      <p:sp>
        <p:nvSpPr>
          <p:cNvPr id="4" name="TextBox 3"/>
          <p:cNvSpPr txBox="1"/>
          <p:nvPr/>
        </p:nvSpPr>
        <p:spPr>
          <a:xfrm>
            <a:off x="731520" y="6400800"/>
            <a:ext cx="10728655" cy="365760"/>
          </a:xfrm>
          <a:prstGeom prst="rect">
            <a:avLst/>
          </a:prstGeom>
          <a:noFill/>
        </p:spPr>
        <p:txBody>
          <a:bodyPr wrap="none" lIns="0" tIns="0" rIns="0" bIns="0">
            <a:spAutoFit/>
          </a:bodyPr>
          <a:lstStyle/>
          <a:p>
            <a:pPr>
              <a:defRPr sz="1200">
                <a:solidFill>
                  <a:srgbClr val="94A3B8"/>
                </a:solidFill>
                <a:latin typeface="Calibri"/>
              </a:defRPr>
            </a:pPr>
            <a:r>
              <a:t>RetailSync (SE-231 Capstone Project 2) • Department of Software Engineering, Daffodil International University | Slide 10 of 12</a:t>
            </a:r>
          </a:p>
        </p:txBody>
      </p:sp>
      <p:sp>
        <p:nvSpPr>
          <p:cNvPr id="5" name="Rounded Rectangle 4"/>
          <p:cNvSpPr/>
          <p:nvPr/>
        </p:nvSpPr>
        <p:spPr>
          <a:xfrm>
            <a:off x="731520" y="1463040"/>
            <a:ext cx="4389120" cy="4663440"/>
          </a:xfrm>
          <a:prstGeom prst="roundRect">
            <a:avLst/>
          </a:prstGeom>
          <a:solidFill>
            <a:srgbClr val="1E293B"/>
          </a:solidFill>
          <a:ln w="12700">
            <a:solidFill>
              <a:srgbClr val="F59E0B"/>
            </a:solidFill>
          </a:ln>
        </p:spPr>
        <p:style>
          <a:lnRef idx="1">
            <a:schemeClr val="accent1"/>
          </a:lnRef>
          <a:fillRef idx="3">
            <a:schemeClr val="accent1"/>
          </a:fillRef>
          <a:effectRef idx="2">
            <a:schemeClr val="accent1"/>
          </a:effectRef>
          <a:fontRef idx="minor">
            <a:schemeClr val="lt1"/>
          </a:fontRef>
        </p:style>
        <p:txBody>
          <a:bodyPr rtlCol="0" anchor="ctr" wrap="square" lIns="88900" rIns="88900" tIns="88900" bIns="88900"/>
          <a:lstStyle/>
          <a:p>
            <a:pPr algn="ctr">
              <a:spcAft>
                <a:spcPts val="400"/>
              </a:spcAft>
              <a:defRPr sz="2000" b="1">
                <a:solidFill>
                  <a:srgbClr val="F59E0B"/>
                </a:solidFill>
                <a:latin typeface="Calibri"/>
              </a:defRPr>
            </a:pPr>
            <a:r>
              <a:t>14-Week Scrum Execution (137 pts)</a:t>
            </a:r>
          </a:p>
          <a:p>
            <a:pPr>
              <a:spcAft>
                <a:spcPts val="300"/>
              </a:spcAft>
              <a:defRPr sz="1350">
                <a:solidFill>
                  <a:srgbClr val="FFFFFF"/>
                </a:solidFill>
                <a:latin typeface="Calibri"/>
              </a:defRPr>
            </a:pPr>
            <a:r>
              <a:t>• Sprint 1 (W1-2, 21 pts): 3NF schema, Docker Compose, JWT RBAC.</a:t>
            </a:r>
          </a:p>
          <a:p>
            <a:pPr>
              <a:spcAft>
                <a:spcPts val="300"/>
              </a:spcAft>
              <a:defRPr sz="1350">
                <a:solidFill>
                  <a:srgbClr val="FFFFFF"/>
                </a:solidFill>
                <a:latin typeface="Calibri"/>
              </a:defRPr>
            </a:pPr>
            <a:r>
              <a:t>• Sprint 2 (W3-4, 24 pts): Inbound scanning, digital GRN. [Scenario A: Dock Expiry Rejection Gate]</a:t>
            </a:r>
          </a:p>
          <a:p>
            <a:pPr>
              <a:spcAft>
                <a:spcPts val="300"/>
              </a:spcAft>
              <a:defRPr sz="1350">
                <a:solidFill>
                  <a:srgbClr val="FFFFFF"/>
                </a:solidFill>
                <a:latin typeface="Calibri"/>
              </a:defRPr>
            </a:pPr>
            <a:r>
              <a:t>• Sprint 3 (W5-6, 26 pts): Directed spatial putaway &amp; FEFO expiry engine.</a:t>
            </a:r>
          </a:p>
          <a:p>
            <a:pPr>
              <a:spcAft>
                <a:spcPts val="300"/>
              </a:spcAft>
              <a:defRPr sz="1350">
                <a:solidFill>
                  <a:srgbClr val="FFFFFF"/>
                </a:solidFill>
                <a:latin typeface="Calibri"/>
              </a:defRPr>
            </a:pPr>
            <a:r>
              <a:t>• Sprint 4 (W7-8, 22 pts): Sub-2s POS concurrency &amp; offline sync. [Scenario B: POS Concurrency Rush &amp; Scenario C: Network Blackout Sync]</a:t>
            </a:r>
          </a:p>
          <a:p>
            <a:pPr>
              <a:spcAft>
                <a:spcPts val="300"/>
              </a:spcAft>
              <a:defRPr sz="1350">
                <a:solidFill>
                  <a:srgbClr val="FFFFFF"/>
                </a:solidFill>
                <a:latin typeface="Calibri"/>
              </a:defRPr>
            </a:pPr>
            <a:r>
              <a:t>• Sprint 5 (W9-10, 23 pts): AI Demand Forecasting &amp; wave picking. [Scenario D: Pre-Ramadan Demand Surge]</a:t>
            </a:r>
          </a:p>
          <a:p>
            <a:pPr>
              <a:spcAft>
                <a:spcPts val="300"/>
              </a:spcAft>
              <a:defRPr sz="1350">
                <a:solidFill>
                  <a:srgbClr val="FFFFFF"/>
                </a:solidFill>
                <a:latin typeface="Calibri"/>
              </a:defRPr>
            </a:pPr>
            <a:r>
              <a:t>• Sprint 6 (W11-12, 21 pts): Blind cycle counts &amp; Locust load hardening.</a:t>
            </a:r>
          </a:p>
          <a:p>
            <a:pPr>
              <a:spcAft>
                <a:spcPts val="300"/>
              </a:spcAft>
              <a:defRPr sz="1350">
                <a:solidFill>
                  <a:srgbClr val="FFFFFF"/>
                </a:solidFill>
                <a:latin typeface="Calibri"/>
              </a:defRPr>
            </a:pPr>
            <a:r>
              <a:t>• Hardening (W13-14): DIU staging pilot &amp; capstone defense.</a:t>
            </a:r>
          </a:p>
        </p:txBody>
      </p:sp>
      <p:pic>
        <p:nvPicPr>
          <p:cNvPr id="6" name="Picture 5" descr="figure4_gantt_roadmap.png"/>
          <p:cNvPicPr>
            <a:picLocks noChangeAspect="1"/>
          </p:cNvPicPr>
          <p:nvPr/>
        </p:nvPicPr>
        <p:blipFill>
          <a:blip r:embed="rId2"/>
          <a:stretch>
            <a:fillRect/>
          </a:stretch>
        </p:blipFill>
        <p:spPr>
          <a:xfrm>
            <a:off x="5303520" y="1463040"/>
            <a:ext cx="6126480" cy="3777996"/>
          </a:xfrm>
          <a:prstGeom prst="rect">
            <a:avLst/>
          </a:prstGeom>
        </p:spPr>
      </p:pic>
    </p:spTree>
  </p:cSld>
  <p:clrMapOvr>
    <a:masterClrMapping/>
  </p:clrMapOvr>
</p:sld>
</file>

<file path=ppt/slides/slide1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0F172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731520" y="320040"/>
            <a:ext cx="10728655" cy="1051560"/>
          </a:xfrm>
          <a:prstGeom prst="rect">
            <a:avLst/>
          </a:prstGeom>
          <a:noFill/>
        </p:spPr>
        <p:txBody>
          <a:bodyPr wrap="square" lIns="0" tIns="0" rIns="0" bIns="0">
            <a:spAutoFit/>
          </a:bodyPr>
          <a:lstStyle/>
          <a:p>
            <a:pPr>
              <a:spcAft>
                <a:spcPts val="200"/>
              </a:spcAft>
              <a:defRPr sz="1400" b="1">
                <a:solidFill>
                  <a:srgbClr val="0EA5E9"/>
                </a:solidFill>
                <a:latin typeface="Calibri"/>
              </a:defRPr>
            </a:pPr>
            <a:r>
              <a:t>BUDGET &amp; BUSINESS FEASIBILITY</a:t>
            </a:r>
          </a:p>
          <a:p>
            <a:pPr>
              <a:defRPr sz="3000" b="1">
                <a:solidFill>
                  <a:srgbClr val="FFFFFF"/>
                </a:solidFill>
                <a:latin typeface="Calibri"/>
              </a:defRPr>
            </a:pPr>
            <a:r>
              <a:t>Resource Allocation, Budget &amp; Projected Financial ROI</a:t>
            </a:r>
          </a:p>
        </p:txBody>
      </p:sp>
      <p:sp>
        <p:nvSpPr>
          <p:cNvPr id="4" name="TextBox 3"/>
          <p:cNvSpPr txBox="1"/>
          <p:nvPr/>
        </p:nvSpPr>
        <p:spPr>
          <a:xfrm>
            <a:off x="731520" y="6400800"/>
            <a:ext cx="10728655" cy="365760"/>
          </a:xfrm>
          <a:prstGeom prst="rect">
            <a:avLst/>
          </a:prstGeom>
          <a:noFill/>
        </p:spPr>
        <p:txBody>
          <a:bodyPr wrap="none" lIns="0" tIns="0" rIns="0" bIns="0">
            <a:spAutoFit/>
          </a:bodyPr>
          <a:lstStyle/>
          <a:p>
            <a:pPr>
              <a:defRPr sz="1200">
                <a:solidFill>
                  <a:srgbClr val="94A3B8"/>
                </a:solidFill>
                <a:latin typeface="Calibri"/>
              </a:defRPr>
            </a:pPr>
            <a:r>
              <a:t>RetailSync (SE-231 Capstone Project 2) • Department of Software Engineering, Daffodil International University | Slide 11 of 12</a:t>
            </a:r>
          </a:p>
        </p:txBody>
      </p:sp>
      <p:sp>
        <p:nvSpPr>
          <p:cNvPr id="5" name="Rounded Rectangle 4"/>
          <p:cNvSpPr/>
          <p:nvPr/>
        </p:nvSpPr>
        <p:spPr>
          <a:xfrm>
            <a:off x="731520" y="1463040"/>
            <a:ext cx="5212080" cy="4663440"/>
          </a:xfrm>
          <a:prstGeom prst="roundRect">
            <a:avLst/>
          </a:prstGeom>
          <a:solidFill>
            <a:srgbClr val="1E293B"/>
          </a:solidFill>
          <a:ln w="12700">
            <a:solidFill>
              <a:srgbClr val="0EA5E9"/>
            </a:solidFill>
          </a:ln>
        </p:spPr>
        <p:style>
          <a:lnRef idx="1">
            <a:schemeClr val="accent1"/>
          </a:lnRef>
          <a:fillRef idx="3">
            <a:schemeClr val="accent1"/>
          </a:fillRef>
          <a:effectRef idx="2">
            <a:schemeClr val="accent1"/>
          </a:effectRef>
          <a:fontRef idx="minor">
            <a:schemeClr val="lt1"/>
          </a:fontRef>
        </p:style>
        <p:txBody>
          <a:bodyPr rtlCol="0" anchor="ctr" wrap="square" lIns="88900" rIns="88900" tIns="88900" bIns="88900"/>
          <a:lstStyle/>
          <a:p>
            <a:pPr algn="ctr">
              <a:spcAft>
                <a:spcPts val="400"/>
              </a:spcAft>
              <a:defRPr sz="2000" b="1">
                <a:solidFill>
                  <a:srgbClr val="0EA5E9"/>
                </a:solidFill>
                <a:latin typeface="Calibri"/>
              </a:defRPr>
            </a:pPr>
            <a:r>
              <a:t>Capstone Prototype Hardware Budget</a:t>
            </a:r>
          </a:p>
          <a:p>
            <a:pPr>
              <a:spcAft>
                <a:spcPts val="400"/>
              </a:spcAft>
              <a:defRPr sz="1400">
                <a:solidFill>
                  <a:srgbClr val="FFFFFF"/>
                </a:solidFill>
                <a:latin typeface="Calibri"/>
              </a:defRPr>
            </a:pPr>
            <a:r>
              <a:t>• Android Test Smartphone (Android 13, 4GB RAM) — 12,500 BDT</a:t>
            </a:r>
          </a:p>
          <a:p>
            <a:pPr>
              <a:spcAft>
                <a:spcPts val="400"/>
              </a:spcAft>
              <a:defRPr sz="1400">
                <a:solidFill>
                  <a:srgbClr val="FFFFFF"/>
                </a:solidFill>
                <a:latin typeface="Calibri"/>
              </a:defRPr>
            </a:pPr>
            <a:r>
              <a:t>• Bluetooth Barcode Trigger Grips (Qty: 2) — 7,600 BDT</a:t>
            </a:r>
          </a:p>
          <a:p>
            <a:pPr>
              <a:spcAft>
                <a:spcPts val="400"/>
              </a:spcAft>
              <a:defRPr sz="1400">
                <a:solidFill>
                  <a:srgbClr val="FFFFFF"/>
                </a:solidFill>
                <a:latin typeface="Calibri"/>
              </a:defRPr>
            </a:pPr>
            <a:r>
              <a:t>• 4-inch Thermal Label &amp; Receipt Printer — 6,500 BDT</a:t>
            </a:r>
          </a:p>
          <a:p>
            <a:pPr>
              <a:spcAft>
                <a:spcPts val="400"/>
              </a:spcAft>
              <a:defRPr sz="1400">
                <a:solidFill>
                  <a:srgbClr val="FFFFFF"/>
                </a:solidFill>
                <a:latin typeface="Calibri"/>
              </a:defRPr>
            </a:pPr>
            <a:r>
              <a:t>• EAN-128 Adhesive Barcode Labels (3,000 labels) — 1,950 BDT</a:t>
            </a:r>
          </a:p>
          <a:p>
            <a:pPr>
              <a:spcAft>
                <a:spcPts val="400"/>
              </a:spcAft>
              <a:defRPr sz="1400">
                <a:solidFill>
                  <a:srgbClr val="FFFFFF"/>
                </a:solidFill>
                <a:latin typeface="Calibri"/>
              </a:defRPr>
            </a:pPr>
            <a:r>
              <a:t>• Cloud Staging VPS Hosting (6 Months) — 5,500 BDT</a:t>
            </a:r>
          </a:p>
          <a:p>
            <a:pPr>
              <a:spcAft>
                <a:spcPts val="400"/>
              </a:spcAft>
              <a:defRPr sz="1550" b="1">
                <a:solidFill>
                  <a:srgbClr val="10B981"/>
                </a:solidFill>
                <a:latin typeface="Calibri"/>
              </a:defRPr>
            </a:pPr>
            <a:r>
              <a:t>Total Prototype Investment: 34,050 BDT</a:t>
            </a:r>
          </a:p>
        </p:txBody>
      </p:sp>
      <p:sp>
        <p:nvSpPr>
          <p:cNvPr id="6" name="Rounded Rectangle 5"/>
          <p:cNvSpPr/>
          <p:nvPr/>
        </p:nvSpPr>
        <p:spPr>
          <a:xfrm>
            <a:off x="6217920" y="1463040"/>
            <a:ext cx="5212080" cy="4663440"/>
          </a:xfrm>
          <a:prstGeom prst="roundRect">
            <a:avLst/>
          </a:prstGeom>
          <a:solidFill>
            <a:srgbClr val="1E293B"/>
          </a:solidFill>
          <a:ln w="12700">
            <a:solidFill>
              <a:srgbClr val="10B981"/>
            </a:solidFill>
          </a:ln>
        </p:spPr>
        <p:style>
          <a:lnRef idx="1">
            <a:schemeClr val="accent1"/>
          </a:lnRef>
          <a:fillRef idx="3">
            <a:schemeClr val="accent1"/>
          </a:fillRef>
          <a:effectRef idx="2">
            <a:schemeClr val="accent1"/>
          </a:effectRef>
          <a:fontRef idx="minor">
            <a:schemeClr val="lt1"/>
          </a:fontRef>
        </p:style>
        <p:txBody>
          <a:bodyPr rtlCol="0" anchor="ctr" wrap="square" lIns="88900" rIns="88900" tIns="88900" bIns="88900"/>
          <a:lstStyle/>
          <a:p>
            <a:pPr algn="ctr">
              <a:spcAft>
                <a:spcPts val="400"/>
              </a:spcAft>
              <a:defRPr sz="2000" b="1">
                <a:solidFill>
                  <a:srgbClr val="10B981"/>
                </a:solidFill>
                <a:latin typeface="Calibri"/>
              </a:defRPr>
            </a:pPr>
            <a:r>
              <a:t>Commercial ROI (Per 3-Store Cluster)</a:t>
            </a:r>
          </a:p>
          <a:p>
            <a:pPr>
              <a:defRPr sz="1500" b="1">
                <a:solidFill>
                  <a:srgbClr val="38BDF8"/>
                </a:solidFill>
                <a:latin typeface="Calibri"/>
              </a:defRPr>
            </a:pPr>
            <a:r>
              <a:t>Perishable Spoilage Savings</a:t>
            </a:r>
          </a:p>
          <a:p>
            <a:pPr>
              <a:spcAft>
                <a:spcPts val="300"/>
              </a:spcAft>
              <a:defRPr sz="1350">
                <a:solidFill>
                  <a:srgbClr val="FFFFFF"/>
                </a:solidFill>
                <a:latin typeface="Calibri"/>
              </a:defRPr>
            </a:pPr>
            <a:r>
              <a:t>Reduced from 22% down to &lt; 6%, saving ~2.18M BDT annually in prevented waste.</a:t>
            </a:r>
          </a:p>
          <a:p>
            <a:pPr>
              <a:defRPr sz="1500" b="1">
                <a:solidFill>
                  <a:srgbClr val="38BDF8"/>
                </a:solidFill>
                <a:latin typeface="Calibri"/>
              </a:defRPr>
            </a:pPr>
            <a:r>
              <a:t>Stockout Revenue Recapture</a:t>
            </a:r>
          </a:p>
          <a:p>
            <a:pPr>
              <a:spcAft>
                <a:spcPts val="300"/>
              </a:spcAft>
              <a:defRPr sz="1350">
                <a:solidFill>
                  <a:srgbClr val="FFFFFF"/>
                </a:solidFill>
                <a:latin typeface="Calibri"/>
              </a:defRPr>
            </a:pPr>
            <a:r>
              <a:t>Reduced out-of-stock from 11.2% down to &lt; 2.5%, recapturing ~2.43M BDT in retail sales.</a:t>
            </a:r>
          </a:p>
          <a:p>
            <a:pPr>
              <a:defRPr sz="1500" b="1">
                <a:solidFill>
                  <a:srgbClr val="38BDF8"/>
                </a:solidFill>
                <a:latin typeface="Calibri"/>
              </a:defRPr>
            </a:pPr>
            <a:r>
              <a:t>Net Annual Financial Gain</a:t>
            </a:r>
          </a:p>
          <a:p>
            <a:pPr>
              <a:spcAft>
                <a:spcPts val="300"/>
              </a:spcAft>
              <a:defRPr sz="1350">
                <a:solidFill>
                  <a:srgbClr val="FFFFFF"/>
                </a:solidFill>
                <a:latin typeface="Calibri"/>
              </a:defRPr>
            </a:pPr>
            <a:r>
              <a:t>~4.61M BDT net bottom-line gain across a 3-branch supermarket pilot.</a:t>
            </a:r>
          </a:p>
          <a:p>
            <a:pPr>
              <a:defRPr sz="1500" b="1">
                <a:solidFill>
                  <a:srgbClr val="38BDF8"/>
                </a:solidFill>
                <a:latin typeface="Calibri"/>
              </a:defRPr>
            </a:pPr>
            <a:r>
              <a:t>Projected Capital Payback Period</a:t>
            </a:r>
          </a:p>
          <a:p>
            <a:pPr>
              <a:spcAft>
                <a:spcPts val="300"/>
              </a:spcAft>
              <a:defRPr sz="1350">
                <a:solidFill>
                  <a:srgbClr val="FFFFFF"/>
                </a:solidFill>
                <a:latin typeface="Calibri"/>
              </a:defRPr>
            </a:pPr>
            <a:r>
              <a:t>2.8 Months based on CapEx of 485,000 BDT (development, smartphones, servers) and OpEx of 14,000 BDT/month.</a:t>
            </a:r>
          </a:p>
        </p:txBody>
      </p:sp>
    </p:spTree>
  </p:cSld>
  <p:clrMapOvr>
    <a:masterClrMapping/>
  </p:clrMapOvr>
</p:sld>
</file>

<file path=ppt/slides/slide1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0F172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731520" y="320040"/>
            <a:ext cx="10728655" cy="1051560"/>
          </a:xfrm>
          <a:prstGeom prst="rect">
            <a:avLst/>
          </a:prstGeom>
          <a:noFill/>
        </p:spPr>
        <p:txBody>
          <a:bodyPr wrap="square" lIns="0" tIns="0" rIns="0" bIns="0">
            <a:spAutoFit/>
          </a:bodyPr>
          <a:lstStyle/>
          <a:p>
            <a:pPr>
              <a:spcAft>
                <a:spcPts val="200"/>
              </a:spcAft>
              <a:defRPr sz="1400" b="1">
                <a:solidFill>
                  <a:srgbClr val="0EA5E9"/>
                </a:solidFill>
                <a:latin typeface="Calibri"/>
              </a:defRPr>
            </a:pPr>
            <a:r>
              <a:t>CONCLUSION &amp; DEFENSE</a:t>
            </a:r>
          </a:p>
          <a:p>
            <a:pPr>
              <a:defRPr sz="3000" b="1">
                <a:solidFill>
                  <a:srgbClr val="FFFFFF"/>
                </a:solidFill>
                <a:latin typeface="Calibri"/>
              </a:defRPr>
            </a:pPr>
            <a:r>
              <a:t>Summary, References &amp; Defense Q&amp;A Session</a:t>
            </a:r>
          </a:p>
        </p:txBody>
      </p:sp>
      <p:sp>
        <p:nvSpPr>
          <p:cNvPr id="4" name="TextBox 3"/>
          <p:cNvSpPr txBox="1"/>
          <p:nvPr/>
        </p:nvSpPr>
        <p:spPr>
          <a:xfrm>
            <a:off x="731520" y="6400800"/>
            <a:ext cx="10728655" cy="365760"/>
          </a:xfrm>
          <a:prstGeom prst="rect">
            <a:avLst/>
          </a:prstGeom>
          <a:noFill/>
        </p:spPr>
        <p:txBody>
          <a:bodyPr wrap="none" lIns="0" tIns="0" rIns="0" bIns="0">
            <a:spAutoFit/>
          </a:bodyPr>
          <a:lstStyle/>
          <a:p>
            <a:pPr>
              <a:defRPr sz="1200">
                <a:solidFill>
                  <a:srgbClr val="94A3B8"/>
                </a:solidFill>
                <a:latin typeface="Calibri"/>
              </a:defRPr>
            </a:pPr>
            <a:r>
              <a:t>RetailSync (SE-231 Capstone Project 2) • Department of Software Engineering, Daffodil International University | Slide 12 of 12</a:t>
            </a:r>
          </a:p>
        </p:txBody>
      </p:sp>
      <p:sp>
        <p:nvSpPr>
          <p:cNvPr id="5" name="Rounded Rectangle 4"/>
          <p:cNvSpPr/>
          <p:nvPr/>
        </p:nvSpPr>
        <p:spPr>
          <a:xfrm>
            <a:off x="731520" y="1463040"/>
            <a:ext cx="5212080" cy="4663440"/>
          </a:xfrm>
          <a:prstGeom prst="roundRect">
            <a:avLst/>
          </a:prstGeom>
          <a:solidFill>
            <a:srgbClr val="1E293B"/>
          </a:solidFill>
          <a:ln w="12700">
            <a:solidFill>
              <a:srgbClr val="0EA5E9"/>
            </a:solidFill>
          </a:ln>
        </p:spPr>
        <p:style>
          <a:lnRef idx="1">
            <a:schemeClr val="accent1"/>
          </a:lnRef>
          <a:fillRef idx="3">
            <a:schemeClr val="accent1"/>
          </a:fillRef>
          <a:effectRef idx="2">
            <a:schemeClr val="accent1"/>
          </a:effectRef>
          <a:fontRef idx="minor">
            <a:schemeClr val="lt1"/>
          </a:fontRef>
        </p:style>
        <p:txBody>
          <a:bodyPr rtlCol="0" anchor="ctr" wrap="square" lIns="88900" rIns="88900" tIns="88900" bIns="88900"/>
          <a:lstStyle/>
          <a:p>
            <a:pPr algn="ctr">
              <a:spcAft>
                <a:spcPts val="400"/>
              </a:spcAft>
              <a:defRPr sz="2000" b="1">
                <a:solidFill>
                  <a:srgbClr val="0EA5E9"/>
                </a:solidFill>
                <a:latin typeface="Calibri"/>
              </a:defRPr>
            </a:pPr>
            <a:r>
              <a:t>Key Engineering Contributions</a:t>
            </a:r>
          </a:p>
          <a:p>
            <a:pPr>
              <a:spcAft>
                <a:spcPts val="300"/>
              </a:spcAft>
              <a:defRPr sz="1350">
                <a:solidFill>
                  <a:srgbClr val="FFFFFF"/>
                </a:solidFill>
                <a:latin typeface="Calibri"/>
              </a:defRPr>
            </a:pPr>
            <a:r>
              <a:t>1. Centralized Relational Integrity: Bridges frontline POS and warehouse bins with strict 3NF schema and sub-2.0s row locking.</a:t>
            </a:r>
          </a:p>
          <a:p>
            <a:pPr>
              <a:spcAft>
                <a:spcPts val="300"/>
              </a:spcAft>
              <a:defRPr sz="1350">
                <a:solidFill>
                  <a:srgbClr val="FFFFFF"/>
                </a:solidFill>
                <a:latin typeface="Calibri"/>
              </a:defRPr>
            </a:pPr>
            <a:r>
              <a:t>2. Automated FEFO Food Safety: Mechanically prevents expired product sales under Bangladesh Food Safety Act 2013.</a:t>
            </a:r>
          </a:p>
          <a:p>
            <a:pPr>
              <a:spcAft>
                <a:spcPts val="300"/>
              </a:spcAft>
              <a:defRPr sz="1350">
                <a:solidFill>
                  <a:srgbClr val="FFFFFF"/>
                </a:solidFill>
                <a:latin typeface="Calibri"/>
              </a:defRPr>
            </a:pPr>
            <a:r>
              <a:t>3. AI Replenishment Engine: CatBoost demand predictor with native festival embeddings coupled to Greasley's dynamic safety stock (LightGBM deferred to roadmap).</a:t>
            </a:r>
          </a:p>
          <a:p>
            <a:pPr>
              <a:spcAft>
                <a:spcPts val="300"/>
              </a:spcAft>
              <a:defRPr sz="1350">
                <a:solidFill>
                  <a:srgbClr val="FFFFFF"/>
                </a:solidFill>
                <a:latin typeface="Calibri"/>
              </a:defRPr>
            </a:pPr>
            <a:r>
              <a:t>4. Frugal Hardware Model: Standard Android smartphones cut deployment costs by 90% with sub-350ms scan speed.</a:t>
            </a:r>
          </a:p>
          <a:p>
            <a:pPr>
              <a:spcAft>
                <a:spcPts val="200"/>
              </a:spcAft>
              <a:defRPr sz="1500" b="1">
                <a:solidFill>
                  <a:srgbClr val="F59E0B"/>
                </a:solidFill>
                <a:latin typeface="Calibri"/>
              </a:defRPr>
            </a:pPr>
            <a:r>
              <a:t>Key Academic References:</a:t>
            </a:r>
          </a:p>
          <a:p>
            <a:pPr>
              <a:defRPr sz="1200">
                <a:solidFill>
                  <a:srgbClr val="94A3B8"/>
                </a:solidFill>
                <a:latin typeface="Calibri"/>
              </a:defRPr>
            </a:pPr>
            <a:r>
              <a:t>• BFSA (2013). Bangladesh Food Safety Act 2013, Ministry of Food.</a:t>
            </a:r>
          </a:p>
          <a:p>
            <a:pPr>
              <a:defRPr sz="1200">
                <a:solidFill>
                  <a:srgbClr val="94A3B8"/>
                </a:solidFill>
                <a:latin typeface="Calibri"/>
              </a:defRPr>
            </a:pPr>
            <a:r>
              <a:t>• BSOA (2024). Annual Report on Supermarket Operations &amp; Wastage.</a:t>
            </a:r>
          </a:p>
          <a:p>
            <a:pPr>
              <a:defRPr sz="1200">
                <a:solidFill>
                  <a:srgbClr val="94A3B8"/>
                </a:solidFill>
                <a:latin typeface="Calibri"/>
              </a:defRPr>
            </a:pPr>
            <a:r>
              <a:t>• FAO (2022). Post-Harvest Losses in South Asian Retail Supply Chains.</a:t>
            </a:r>
          </a:p>
          <a:p>
            <a:pPr>
              <a:defRPr sz="1200">
                <a:solidFill>
                  <a:srgbClr val="94A3B8"/>
                </a:solidFill>
                <a:latin typeface="Calibri"/>
              </a:defRPr>
            </a:pPr>
            <a:r>
              <a:t>• Greasley, A. (2013). Operations Management, 3rd ed., Wiley.</a:t>
            </a:r>
          </a:p>
          <a:p>
            <a:pPr>
              <a:defRPr sz="1200">
                <a:solidFill>
                  <a:srgbClr val="94A3B8"/>
                </a:solidFill>
                <a:latin typeface="Calibri"/>
              </a:defRPr>
            </a:pPr>
            <a:r>
              <a:t>• Prokhorenkova, L. et al. (2018). CatBoost: Unbiased Boosting with Categorical Features.</a:t>
            </a:r>
          </a:p>
          <a:p>
            <a:pPr>
              <a:defRPr sz="1200">
                <a:solidFill>
                  <a:srgbClr val="94A3B8"/>
                </a:solidFill>
                <a:latin typeface="Calibri"/>
              </a:defRPr>
            </a:pPr>
            <a:r>
              <a:t>• Ke, G. et al. (2017). LightGBM: A Highly Efficient GBDT, NeurIPS (Deferred).</a:t>
            </a:r>
          </a:p>
          <a:p>
            <a:pPr>
              <a:defRPr sz="1200">
                <a:solidFill>
                  <a:srgbClr val="94A3B8"/>
                </a:solidFill>
                <a:latin typeface="Calibri"/>
              </a:defRPr>
            </a:pPr>
            <a:r>
              <a:t>• Kleppmann, M. (2017). Designing Data-Intensive Applications, O'Reilly.</a:t>
            </a:r>
          </a:p>
        </p:txBody>
      </p:sp>
      <p:sp>
        <p:nvSpPr>
          <p:cNvPr id="6" name="Rounded Rectangle 5"/>
          <p:cNvSpPr/>
          <p:nvPr/>
        </p:nvSpPr>
        <p:spPr>
          <a:xfrm>
            <a:off x="6217920" y="1463040"/>
            <a:ext cx="5212080" cy="4663440"/>
          </a:xfrm>
          <a:prstGeom prst="roundRect">
            <a:avLst/>
          </a:prstGeom>
          <a:solidFill>
            <a:srgbClr val="182235"/>
          </a:solidFill>
          <a:ln w="12700">
            <a:solidFill>
              <a:srgbClr val="10B981"/>
            </a:solidFill>
          </a:ln>
        </p:spPr>
        <p:style>
          <a:lnRef idx="1">
            <a:schemeClr val="accent1"/>
          </a:lnRef>
          <a:fillRef idx="3">
            <a:schemeClr val="accent1"/>
          </a:fillRef>
          <a:effectRef idx="2">
            <a:schemeClr val="accent1"/>
          </a:effectRef>
          <a:fontRef idx="minor">
            <a:schemeClr val="lt1"/>
          </a:fontRef>
        </p:style>
        <p:txBody>
          <a:bodyPr rtlCol="0" anchor="ctr" wrap="square" lIns="88900" rIns="88900" tIns="88900" bIns="88900"/>
          <a:lstStyle/>
          <a:p>
            <a:pPr algn="ctr">
              <a:spcAft>
                <a:spcPts val="800"/>
              </a:spcAft>
              <a:defRPr sz="2800" b="1">
                <a:solidFill>
                  <a:srgbClr val="10B981"/>
                </a:solidFill>
                <a:latin typeface="Calibri"/>
              </a:defRPr>
            </a:pPr>
            <a:r>
              <a:t>DEFENSE Q&amp;A SESSION</a:t>
            </a:r>
          </a:p>
          <a:p>
            <a:pPr algn="ctr">
              <a:defRPr sz="1550">
                <a:solidFill>
                  <a:srgbClr val="FFFFFF"/>
                </a:solidFill>
                <a:latin typeface="Calibri"/>
              </a:defRPr>
            </a:pPr>
            <a:r>
              <a:t>Thank you, respected committee members.</a:t>
            </a:r>
            <a:br/>
            <a:br/>
            <a:r>
              <a:t>We now warmly invite your questions, feedback, and critique on the RetailSync project proposal.</a:t>
            </a:r>
            <a:br/>
            <a:br/>
            <a:r>
              <a:t>Interactive Demonstrations Available Live:</a:t>
            </a:r>
            <a:br/>
            <a:r>
              <a:t>• Live POS Concurrency Race Simulator (PostgreSQL 16 Lock)</a:t>
            </a:r>
            <a:br/>
            <a:r>
              <a:t>• Greasley Statistical Safety Stock &amp; Dynamic EOQ Engine</a:t>
            </a:r>
            <a:br/>
            <a:r>
              <a:t>• 4-Tier Interactive Architecture Stack Inspector</a:t>
            </a:r>
          </a:p>
          <a:p>
            <a:br/>
            <a:pPr algn="ctr">
              <a:defRPr sz="1500" b="1">
                <a:solidFill>
                  <a:srgbClr val="0EA5E9"/>
                </a:solidFill>
                <a:latin typeface="Calibri"/>
              </a:defRPr>
            </a:pPr>
            <a:r>
              <a:t>Project Team: Raisul Islam Likhon (Lead: 251-35-508)  •  Shottobroto Dey (251-35-017)  •  Golam Husnain Papon (251-35-529)</a:t>
            </a:r>
            <a:br/>
            <a:r>
              <a:t>Batch: 44th Batch  •  Section: SWE-44D  |  Department of Software Engineering, Daffodil International University</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1</TotalTime>
  <Words>0</Words>
  <Application>Microsoft Macintosh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Manager/>
  <Company/>
  <LinksUpToDate>false</LinksUpToDate>
  <SharedDoc>false</SharedDoc>
  <HyperlinkBase/>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subject/>
  <dc:creator/>
  <cp:keywords/>
  <dc:description>generated using python-pptx</dc:description>
  <cp:lastModifiedBy>Steve Canny</cp:lastModifiedBy>
  <cp:revision>1</cp:revision>
  <dcterms:created xsi:type="dcterms:W3CDTF">2013-01-27T09:14:16Z</dcterms:created>
  <dcterms:modified xsi:type="dcterms:W3CDTF">2013-01-27T09:15:58Z</dcterms:modified>
  <cp:category/>
</cp:coreProperties>
</file>