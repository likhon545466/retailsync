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673D92A-6335-E5A7-1BE0-4D96CAF30F55}">
          <p14:sldIdLst>
            <p14:sldId id="256"/>
            <p14:sldId id="257"/>
          </p14:sldIdLst>
        </p14:section>
        <p14:section name="Background" id="{94C0328A-72C1-457D-0777-20BED6AE155E}">
          <p14:sldIdLst>
            <p14:sldId id="258"/>
            <p14:sldId id="259"/>
          </p14:sldIdLst>
        </p14:section>
        <p14:section name="Solution" id="{8A3D841A-7B54-8AC9-6C1A-72B6BA6F2620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lanning" id="{D2B75748-563E-7B64-1BFC-5BA4E1D05B76}">
          <p14:sldIdLst>
            <p14:sldId id="266"/>
            <p14:sldId id="267"/>
            <p14:sldId id="268"/>
            <p14:sldId id="269"/>
          </p14:sldIdLst>
        </p14:section>
        <p14:section name="Closing" id="{CF896B98-90B5-056C-6A69-1E24F0C37B6A}">
          <p14:sldIdLst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394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Ruman: Greet the teacher, introduce the project title, the course and the two team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Ruman: Introduce both members with their IDs and primary areas of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Ruman: Many household tasks are still manual and electricity use is not monitored. Our system uses sensors and AI to automate and optimise.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Ruman: Explain the three problems and the gap in existing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Ruman: Walk through the five steps: Sense, Analyze, Decide, Automate, Monitor. Mention that manual override is always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Ruman: Follow the flow from the sensors, through the ESP32 and MQTT, to the backend, analysis, relays and appliances. The web dashboard lets the user monitor and send manual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Rafid: Explain the two automation modules and which sensors each one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Rafid: Explain energy monitoring, then hand over to Al Ruman for the AI analytics part if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Ruman: Describe the three layers. The ESP32 and sensors talk to the backend over MQTT. We follow Agile.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Ruman: Presentation layer (web dashboard), application layer (Node.js, rules, energy processing, AI, MySQL, MQTT broker) and sensing layer (ESP32, sensors, relays). Blue arrows show data flow, green arrows show control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Rafid: Explain the 12-week plan, from background research in weeks 1-2 to final submission in week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Ruman: Backend and AI. Rafid: hardware and MQTT. Shared: design, integration testing, report and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Rafid: The total is about 7,900 BDT. Software is open-source; cost is mostly hardware and basic hosting.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Rafid: Highlight the main risks and how we reduce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Ruman: Summarise the expected deliverables, then mention future extensions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 Ruman: Close with the three key points and the final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list from the proposal.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Both: Thank the teacher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3C8"/>
                </a:solidFill>
              </a:rPr>
              <a:t>Smart Home Automation and Energy Optimization System  |  SE 231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Title</a:t>
            </a: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C"/>
                </a:solidFill>
              </a:rPr>
              <a:t>Smart Home Automation and Energy Optimization System  |  SE 231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Title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circle large"/>
          <p:cNvSpPr/>
          <p:nvPr/>
        </p:nvSpPr>
        <p:spPr>
          <a:xfrm>
            <a:off x="5760720" y="0"/>
            <a:ext cx="3383280" cy="33832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cover circle amber"/>
          <p:cNvSpPr/>
          <p:nvPr/>
        </p:nvSpPr>
        <p:spPr>
          <a:xfrm>
            <a:off x="8046720" y="3108960"/>
            <a:ext cx="1097280" cy="1097280"/>
          </a:xfrm>
          <a:prstGeom prst="ellipse">
            <a:avLst/>
          </a:prstGeom>
          <a:solidFill>
            <a:schemeClr val="accent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cover home icon" descr="Hom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0515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SE 231  ·  PROJECT PROPOSAL PRESENTATION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887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Smart Home Automation and Energy Optimization System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AI-integrated home automation, water management and energy monitoring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Md. Al Ruman   ·   S. M. Rafid Islam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776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Section 44_D2  ·  Group 07  ·  System Analysis &amp; Design Capstone Project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51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Course Teacher: Md. Selim Reza, Assistant Professor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Our Team</a:t>
            </a:r>
            <a:endParaRPr lang="en-US" sz="3200" dirty="0"/>
          </a:p>
        </p:txBody>
      </p:sp>
      <p:sp>
        <p:nvSpPr>
          <p:cNvPr id="3" name="team card 1"/>
          <p:cNvSpPr/>
          <p:nvPr/>
        </p:nvSpPr>
        <p:spPr>
          <a:xfrm>
            <a:off x="640080" y="1280160"/>
            <a:ext cx="38404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am avatar 1"/>
          <p:cNvSpPr/>
          <p:nvPr/>
        </p:nvSpPr>
        <p:spPr>
          <a:xfrm>
            <a:off x="2057400" y="15544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05740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Md. Al Ruman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ID: 251-35-583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Section 44_D2  ·  Group 07</a:t>
            </a:r>
            <a:endParaRPr lang="en-US" sz="1200" dirty="0"/>
          </a:p>
        </p:txBody>
      </p:sp>
      <p:sp>
        <p:nvSpPr>
          <p:cNvPr id="9" name="role pill 1"/>
          <p:cNvSpPr/>
          <p:nvPr/>
        </p:nvSpPr>
        <p:spPr>
          <a:xfrm>
            <a:off x="1188720" y="3749040"/>
            <a:ext cx="274320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7490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Backend &amp; AI Development</a:t>
            </a:r>
            <a:endParaRPr lang="en-US" sz="1200" dirty="0"/>
          </a:p>
        </p:txBody>
      </p:sp>
      <p:sp>
        <p:nvSpPr>
          <p:cNvPr id="11" name="team card 2"/>
          <p:cNvSpPr/>
          <p:nvPr/>
        </p:nvSpPr>
        <p:spPr>
          <a:xfrm>
            <a:off x="4663440" y="1280160"/>
            <a:ext cx="384048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am avatar 2"/>
          <p:cNvSpPr/>
          <p:nvPr/>
        </p:nvSpPr>
        <p:spPr>
          <a:xfrm>
            <a:off x="6080760" y="155448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8076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S. M. Rafid Islam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ID: 251-35-171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Section 44_D2  ·  Group 07</a:t>
            </a:r>
            <a:endParaRPr lang="en-US" sz="1200" dirty="0"/>
          </a:p>
        </p:txBody>
      </p:sp>
      <p:sp>
        <p:nvSpPr>
          <p:cNvPr id="17" name="role pill 2"/>
          <p:cNvSpPr/>
          <p:nvPr/>
        </p:nvSpPr>
        <p:spPr>
          <a:xfrm>
            <a:off x="5212080" y="3749040"/>
            <a:ext cx="2743200" cy="32918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12080" y="37490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Hardware &amp; MQTT Integration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intro 1 circle"/>
          <p:cNvSpPr/>
          <p:nvPr/>
        </p:nvSpPr>
        <p:spPr>
          <a:xfrm>
            <a:off x="457200" y="1234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ntro 1 icon" descr="intr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3944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216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Manual household control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087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Lights, fans, air conditioners and water pumps still depend on users switching them on and off.</a:t>
            </a:r>
            <a:endParaRPr lang="en-US" sz="1250" dirty="0"/>
          </a:p>
        </p:txBody>
      </p:sp>
      <p:sp>
        <p:nvSpPr>
          <p:cNvPr id="7" name="intro 2 circle"/>
          <p:cNvSpPr/>
          <p:nvPr/>
        </p:nvSpPr>
        <p:spPr>
          <a:xfrm>
            <a:off x="457200" y="23317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ntro 2 icon" descr="intro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24917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313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Unmonitored energy use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2606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Appliances stay active when not needed, and electricity consumption is rarely tracked.</a:t>
            </a:r>
            <a:endParaRPr lang="en-US" sz="1250" dirty="0"/>
          </a:p>
        </p:txBody>
      </p:sp>
      <p:sp>
        <p:nvSpPr>
          <p:cNvPr id="11" name="intro 3 circle"/>
          <p:cNvSpPr/>
          <p:nvPr/>
        </p:nvSpPr>
        <p:spPr>
          <a:xfrm>
            <a:off x="457200" y="34290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ntro 3 icon" descr="intro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" y="35890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3410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Our approach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703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Sensors, automation rules and an AI component that predicts usage and suggests savings.</a:t>
            </a:r>
            <a:endParaRPr lang="en-US" sz="1250" dirty="0"/>
          </a:p>
        </p:txBody>
      </p:sp>
      <p:sp>
        <p:nvSpPr>
          <p:cNvPr id="15" name="intro panel"/>
          <p:cNvSpPr/>
          <p:nvPr/>
        </p:nvSpPr>
        <p:spPr>
          <a:xfrm>
            <a:off x="5577840" y="1188720"/>
            <a:ext cx="3108960" cy="329184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585216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the system does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852160" y="187452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Senses occupancy, light, temperature and water level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Controls lights, fans, AC and the water pump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Monitors electricity usage live and over time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Keeps manual override always available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143000"/>
            <a:ext cx="25908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problem 1 circle"/>
          <p:cNvSpPr/>
          <p:nvPr/>
        </p:nvSpPr>
        <p:spPr>
          <a:xfrm>
            <a:off x="68580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roblem 1 icon" descr="probl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5201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03120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Manual control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423160"/>
            <a:ext cx="213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Lights, fans and ACs are switched by hand, and rooftop tanks are checked manually before running the pump.</a:t>
            </a:r>
            <a:endParaRPr lang="en-US" sz="1200" dirty="0"/>
          </a:p>
        </p:txBody>
      </p:sp>
      <p:sp>
        <p:nvSpPr>
          <p:cNvPr id="8" name="problem card 2"/>
          <p:cNvSpPr/>
          <p:nvPr/>
        </p:nvSpPr>
        <p:spPr>
          <a:xfrm>
            <a:off x="3276600" y="1143000"/>
            <a:ext cx="25908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problem 2 circle"/>
          <p:cNvSpPr/>
          <p:nvPr/>
        </p:nvSpPr>
        <p:spPr>
          <a:xfrm>
            <a:off x="350520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roblem 2 icon" descr="probl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790" y="152019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05200" y="2103120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energy visibility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05200" y="2423160"/>
            <a:ext cx="213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Households have no simple way to see which devices use more electricity or to spot unusual usage.</a:t>
            </a:r>
            <a:endParaRPr lang="en-US" sz="1200" dirty="0"/>
          </a:p>
        </p:txBody>
      </p:sp>
      <p:sp>
        <p:nvSpPr>
          <p:cNvPr id="13" name="problem card 3"/>
          <p:cNvSpPr/>
          <p:nvPr/>
        </p:nvSpPr>
        <p:spPr>
          <a:xfrm>
            <a:off x="6096000" y="1143000"/>
            <a:ext cx="25908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problem 3 circle"/>
          <p:cNvSpPr/>
          <p:nvPr/>
        </p:nvSpPr>
        <p:spPr>
          <a:xfrm>
            <a:off x="632460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problem 3 icon" descr="probl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190" y="152019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24600" y="2103120"/>
            <a:ext cx="213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Local conditions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24600" y="2423160"/>
            <a:ext cx="213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Prepaid meters and load-shedding in Bangladesh make household energy management harder.</a:t>
            </a:r>
            <a:endParaRPr lang="en-US" sz="1200" dirty="0"/>
          </a:p>
        </p:txBody>
      </p:sp>
      <p:sp>
        <p:nvSpPr>
          <p:cNvPr id="18" name="gap strip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31520" y="376732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The gap:  </a:t>
            </a:r>
            <a:r>
              <a:rPr lang="en-US" sz="1200" dirty="0">
                <a:solidFill>
                  <a:schemeClr val="bg1"/>
                </a:solidFill>
              </a:rPr>
              <a:t>existing smart home products mostly offer app-based remote control, and some need costly hardware or complex setup. A practical system should combine automatic control, energy monitoring and AI analysis while keeping manual control.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the System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1097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5"/>
                </a:solidFill>
              </a:rPr>
              <a:t>1</a:t>
            </a:r>
            <a:endParaRPr lang="en-US" sz="1100" dirty="0"/>
          </a:p>
        </p:txBody>
      </p:sp>
      <p:sp>
        <p:nvSpPr>
          <p:cNvPr id="4" name="step 1 circle"/>
          <p:cNvSpPr/>
          <p:nvPr/>
        </p:nvSpPr>
        <p:spPr>
          <a:xfrm>
            <a:off x="868680" y="13716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ep 1 icon" descr="step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577340"/>
            <a:ext cx="411480" cy="411480"/>
          </a:xfrm>
          <a:prstGeom prst="rect">
            <a:avLst/>
          </a:prstGeom>
        </p:spPr>
      </p:pic>
      <p:sp>
        <p:nvSpPr>
          <p:cNvPr id="6" name="step arrow 1"/>
          <p:cNvSpPr/>
          <p:nvPr/>
        </p:nvSpPr>
        <p:spPr>
          <a:xfrm>
            <a:off x="1755648" y="1783080"/>
            <a:ext cx="69494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Text 4"/>
          <p:cNvSpPr txBox="1"/>
          <p:nvPr/>
        </p:nvSpPr>
        <p:spPr>
          <a:xfrm>
            <a:off x="502920" y="2331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Sense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97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</a:rPr>
              <a:t>PIR, LDR, temperature, water level and current sensors collect data through the ESP32.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651760" y="1097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5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step 2 circle"/>
          <p:cNvSpPr/>
          <p:nvPr/>
        </p:nvSpPr>
        <p:spPr>
          <a:xfrm>
            <a:off x="2514600" y="13716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tep 2 icon" descr="step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340" y="1577340"/>
            <a:ext cx="411480" cy="411480"/>
          </a:xfrm>
          <a:prstGeom prst="rect">
            <a:avLst/>
          </a:prstGeom>
        </p:spPr>
      </p:pic>
      <p:sp>
        <p:nvSpPr>
          <p:cNvPr id="12" name="step arrow 2"/>
          <p:cNvSpPr/>
          <p:nvPr/>
        </p:nvSpPr>
        <p:spPr>
          <a:xfrm>
            <a:off x="3401568" y="1783080"/>
            <a:ext cx="69494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2148840" y="2331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Analyze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194560" y="2697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</a:rPr>
              <a:t>The backend processes readings; AI analyses energy history.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297680" y="1097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5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step 3 circle"/>
          <p:cNvSpPr/>
          <p:nvPr/>
        </p:nvSpPr>
        <p:spPr>
          <a:xfrm>
            <a:off x="4160520" y="13716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tep 3 icon" descr="step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1577340"/>
            <a:ext cx="411480" cy="411480"/>
          </a:xfrm>
          <a:prstGeom prst="rect">
            <a:avLst/>
          </a:prstGeom>
        </p:spPr>
      </p:pic>
      <p:sp>
        <p:nvSpPr>
          <p:cNvPr id="18" name="step arrow 3"/>
          <p:cNvSpPr/>
          <p:nvPr/>
        </p:nvSpPr>
        <p:spPr>
          <a:xfrm>
            <a:off x="5047488" y="1783080"/>
            <a:ext cx="69494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3794760" y="2331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Decide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3840480" y="2697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</a:rPr>
              <a:t>Automation rules and AI results choose the right action.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5943600" y="1097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5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step 4 circle"/>
          <p:cNvSpPr/>
          <p:nvPr/>
        </p:nvSpPr>
        <p:spPr>
          <a:xfrm>
            <a:off x="5806440" y="13716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step 4 icon" descr="step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80" y="1577340"/>
            <a:ext cx="411480" cy="411480"/>
          </a:xfrm>
          <a:prstGeom prst="rect">
            <a:avLst/>
          </a:prstGeom>
        </p:spPr>
      </p:pic>
      <p:sp>
        <p:nvSpPr>
          <p:cNvPr id="24" name="step arrow 4"/>
          <p:cNvSpPr/>
          <p:nvPr/>
        </p:nvSpPr>
        <p:spPr>
          <a:xfrm>
            <a:off x="6693408" y="1783080"/>
            <a:ext cx="694944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Text 19"/>
          <p:cNvSpPr txBox="1"/>
          <p:nvPr/>
        </p:nvSpPr>
        <p:spPr>
          <a:xfrm>
            <a:off x="5440680" y="2331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Automate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0" y="2697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</a:rPr>
              <a:t>Relays switch lights, fans, AC and the water pump.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7589520" y="10972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5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step 5 circle"/>
          <p:cNvSpPr/>
          <p:nvPr/>
        </p:nvSpPr>
        <p:spPr>
          <a:xfrm>
            <a:off x="7452360" y="137160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step 5 icon" descr="step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8100" y="1577340"/>
            <a:ext cx="411480" cy="41148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086600" y="2331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Monitor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7132320" y="26974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tx1"/>
                </a:solidFill>
              </a:rPr>
              <a:t>The dashboard shows live data, alerts and suggestions.</a:t>
            </a:r>
            <a:endParaRPr lang="en-US" sz="1150" dirty="0"/>
          </a:p>
        </p:txBody>
      </p:sp>
      <p:sp>
        <p:nvSpPr>
          <p:cNvPr id="32" name="override strip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override circle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4" name="override icon" descr="overrid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" y="4137660"/>
            <a:ext cx="228600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280160" y="39319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The loop runs continuously. Users can override any connected device manually from the dashboard.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verall system flow diagram" descr="Overall system flow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217" y="102870"/>
            <a:ext cx="6737567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Core Modules: Automation</a:t>
            </a:r>
            <a:endParaRPr lang="en-US" sz="3200" dirty="0"/>
          </a:p>
        </p:txBody>
      </p:sp>
      <p:sp>
        <p:nvSpPr>
          <p:cNvPr id="3" name="module card 1"/>
          <p:cNvSpPr/>
          <p:nvPr/>
        </p:nvSpPr>
        <p:spPr>
          <a:xfrm>
            <a:off x="457200" y="114300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module 1 circle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module 1 icon" descr="modul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Smart Appliance &amp; Occupancy Control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Controls lights, fans and AC from occupancy, daylight and temperature.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803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PIR sensor detects people in the room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LDR measures natural light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Temperature sensor drives fan and AC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Relay modules switch the appliances</a:t>
            </a:r>
            <a:endParaRPr lang="en-US" sz="1350" dirty="0"/>
          </a:p>
        </p:txBody>
      </p:sp>
      <p:sp>
        <p:nvSpPr>
          <p:cNvPr id="9" name="module card 2"/>
          <p:cNvSpPr/>
          <p:nvPr/>
        </p:nvSpPr>
        <p:spPr>
          <a:xfrm>
            <a:off x="4709160" y="114300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module 2 circle"/>
          <p:cNvSpPr/>
          <p:nvPr/>
        </p:nvSpPr>
        <p:spPr>
          <a:xfrm>
            <a:off x="498348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module 2 icon" descr="modu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5316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06440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Water Tank &amp; Pump Automation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21488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Monitors the rooftop tank and controls the water pump automatically.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28803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Ultrasonic sensor reads the water level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Pump runs according to tank level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Basic overflow protection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Basic dry-run protection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Core Modules: Energy &amp; AI</a:t>
            </a:r>
            <a:endParaRPr lang="en-US" sz="3200" dirty="0"/>
          </a:p>
        </p:txBody>
      </p:sp>
      <p:sp>
        <p:nvSpPr>
          <p:cNvPr id="3" name="module card 1"/>
          <p:cNvSpPr/>
          <p:nvPr/>
        </p:nvSpPr>
        <p:spPr>
          <a:xfrm>
            <a:off x="457200" y="114300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module 1 circle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module 1 icon" descr="modul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Energy Monitoring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Collects electricity usage data and shows it on the web dashboard.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803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CT sensor (e.g., SCT-013) measures current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Live readings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Historical charts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Alerts and manual device controls</a:t>
            </a:r>
            <a:endParaRPr lang="en-US" sz="1350" dirty="0"/>
          </a:p>
        </p:txBody>
      </p:sp>
      <p:sp>
        <p:nvSpPr>
          <p:cNvPr id="9" name="module card 2"/>
          <p:cNvSpPr/>
          <p:nvPr/>
        </p:nvSpPr>
        <p:spPr>
          <a:xfrm>
            <a:off x="4709160" y="1143000"/>
            <a:ext cx="397764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module 2 circle"/>
          <p:cNvSpPr/>
          <p:nvPr/>
        </p:nvSpPr>
        <p:spPr>
          <a:xfrm>
            <a:off x="498348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module 2 icon" descr="modul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5316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06440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AI Analytics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21488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Analyses historical energy data using Python and scikit-learn.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983480" y="2880360"/>
            <a:ext cx="3429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Predicts future consumption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Detects unusual usage patterns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Gives energy-saving suggestions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Logs prepaid balance and load-shedding periods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layer 1"/>
          <p:cNvSpPr/>
          <p:nvPr/>
        </p:nvSpPr>
        <p:spPr>
          <a:xfrm>
            <a:off x="457200" y="1143000"/>
            <a:ext cx="53035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16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Web dashboard (HTML, CSS, JavaScript, React): live and historical data, alerts, recommendations, manual control</a:t>
            </a:r>
            <a:endParaRPr lang="en-US" sz="1150" dirty="0"/>
          </a:p>
        </p:txBody>
      </p:sp>
      <p:sp>
        <p:nvSpPr>
          <p:cNvPr id="6" name="layer 2"/>
          <p:cNvSpPr/>
          <p:nvPr/>
        </p:nvSpPr>
        <p:spPr>
          <a:xfrm>
            <a:off x="457200" y="2286000"/>
            <a:ext cx="53035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359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Node.js backend, MySQL database and Python AI models: automation rules, energy processing, prediction</a:t>
            </a:r>
            <a:endParaRPr lang="en-US" sz="1150" dirty="0"/>
          </a:p>
        </p:txBody>
      </p:sp>
      <p:sp>
        <p:nvSpPr>
          <p:cNvPr id="9" name="layer 3"/>
          <p:cNvSpPr/>
          <p:nvPr/>
        </p:nvSpPr>
        <p:spPr>
          <a:xfrm>
            <a:off x="457200" y="3429000"/>
            <a:ext cx="530352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3502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Sensing Layer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94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ESP32 with PIR, LDR, temperature, water level and current sensors, plus relay modules</a:t>
            </a:r>
            <a:endParaRPr lang="en-US" sz="1150" dirty="0"/>
          </a:p>
        </p:txBody>
      </p:sp>
      <p:sp>
        <p:nvSpPr>
          <p:cNvPr id="12" name="layer link 1"/>
          <p:cNvSpPr/>
          <p:nvPr/>
        </p:nvSpPr>
        <p:spPr>
          <a:xfrm>
            <a:off x="3108960" y="2075688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13" name="layer link 2"/>
          <p:cNvSpPr/>
          <p:nvPr/>
        </p:nvSpPr>
        <p:spPr>
          <a:xfrm>
            <a:off x="3108960" y="3218688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headEnd type="triangl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246120" y="320040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MQTT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6" name="chip ESP32"/>
          <p:cNvSpPr/>
          <p:nvPr/>
        </p:nvSpPr>
        <p:spPr>
          <a:xfrm>
            <a:off x="6126480" y="1600200"/>
            <a:ext cx="11887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ESP32</a:t>
            </a:r>
            <a:endParaRPr lang="en-US" sz="1200" dirty="0"/>
          </a:p>
        </p:txBody>
      </p:sp>
      <p:sp>
        <p:nvSpPr>
          <p:cNvPr id="18" name="chip MQTT"/>
          <p:cNvSpPr/>
          <p:nvPr/>
        </p:nvSpPr>
        <p:spPr>
          <a:xfrm>
            <a:off x="7452360" y="1600200"/>
            <a:ext cx="11887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600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MQTT</a:t>
            </a:r>
            <a:endParaRPr lang="en-US" sz="1200" dirty="0"/>
          </a:p>
        </p:txBody>
      </p:sp>
      <p:sp>
        <p:nvSpPr>
          <p:cNvPr id="20" name="chip Node.js"/>
          <p:cNvSpPr/>
          <p:nvPr/>
        </p:nvSpPr>
        <p:spPr>
          <a:xfrm>
            <a:off x="6126480" y="2130552"/>
            <a:ext cx="11887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21305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Node.js</a:t>
            </a:r>
            <a:endParaRPr lang="en-US" sz="1200" dirty="0"/>
          </a:p>
        </p:txBody>
      </p:sp>
      <p:sp>
        <p:nvSpPr>
          <p:cNvPr id="22" name="chip MySQL"/>
          <p:cNvSpPr/>
          <p:nvPr/>
        </p:nvSpPr>
        <p:spPr>
          <a:xfrm>
            <a:off x="7452360" y="2130552"/>
            <a:ext cx="11887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52360" y="21305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MySQL</a:t>
            </a:r>
            <a:endParaRPr lang="en-US" sz="1200" dirty="0"/>
          </a:p>
        </p:txBody>
      </p:sp>
      <p:sp>
        <p:nvSpPr>
          <p:cNvPr id="24" name="chip Python"/>
          <p:cNvSpPr/>
          <p:nvPr/>
        </p:nvSpPr>
        <p:spPr>
          <a:xfrm>
            <a:off x="6126480" y="2660904"/>
            <a:ext cx="11887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26480" y="2660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Python</a:t>
            </a:r>
            <a:endParaRPr lang="en-US" sz="1200" dirty="0"/>
          </a:p>
        </p:txBody>
      </p:sp>
      <p:sp>
        <p:nvSpPr>
          <p:cNvPr id="26" name="chip scikit-learn"/>
          <p:cNvSpPr/>
          <p:nvPr/>
        </p:nvSpPr>
        <p:spPr>
          <a:xfrm>
            <a:off x="7452360" y="2660904"/>
            <a:ext cx="11887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52360" y="26609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28" name="chip React"/>
          <p:cNvSpPr/>
          <p:nvPr/>
        </p:nvSpPr>
        <p:spPr>
          <a:xfrm>
            <a:off x="6126480" y="3191256"/>
            <a:ext cx="11887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0" y="3191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React</a:t>
            </a:r>
            <a:endParaRPr lang="en-US" sz="1200" dirty="0"/>
          </a:p>
        </p:txBody>
      </p:sp>
      <p:sp>
        <p:nvSpPr>
          <p:cNvPr id="30" name="chip GitHub"/>
          <p:cNvSpPr/>
          <p:nvPr/>
        </p:nvSpPr>
        <p:spPr>
          <a:xfrm>
            <a:off x="7452360" y="3191256"/>
            <a:ext cx="1188720" cy="384048"/>
          </a:xfrm>
          <a:prstGeom prst="roundRect">
            <a:avLst>
              <a:gd name="adj" fmla="val 4761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360" y="3191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GitHub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3794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Development approach: </a:t>
            </a:r>
            <a:r>
              <a:rPr lang="en-US" sz="1200" dirty="0">
                <a:solidFill>
                  <a:schemeClr val="tx1"/>
                </a:solidFill>
              </a:rPr>
              <a:t>Agile, built and tested in small stages.</a:t>
            </a:r>
            <a:endParaRPr lang="en-US" sz="12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ree-layer architecture diagram" descr="Three-layer architecture 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359" y="102870"/>
            <a:ext cx="6879282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Timeline: 12 Weeks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017520" y="1143000"/>
            <a:ext cx="47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5"/>
                </a:solidFill>
              </a:rPr>
              <a:t>W1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3489960" y="1143000"/>
            <a:ext cx="47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5"/>
                </a:solidFill>
              </a:rPr>
              <a:t>W2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962400" y="1143000"/>
            <a:ext cx="47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5"/>
                </a:solidFill>
              </a:rPr>
              <a:t>W3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143000"/>
            <a:ext cx="47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5"/>
                </a:solidFill>
              </a:rPr>
              <a:t>W4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907280" y="1143000"/>
            <a:ext cx="47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5"/>
                </a:solidFill>
              </a:rPr>
              <a:t>W5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379720" y="1143000"/>
            <a:ext cx="47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5"/>
                </a:solidFill>
              </a:rPr>
              <a:t>W6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143000"/>
            <a:ext cx="47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5"/>
                </a:solidFill>
              </a:rPr>
              <a:t>W7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324600" y="1143000"/>
            <a:ext cx="47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5"/>
                </a:solidFill>
              </a:rPr>
              <a:t>W8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797040" y="1143000"/>
            <a:ext cx="47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5"/>
                </a:solidFill>
              </a:rPr>
              <a:t>W9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143000"/>
            <a:ext cx="47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5"/>
                </a:solidFill>
              </a:rPr>
              <a:t>W10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741920" y="1143000"/>
            <a:ext cx="47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5"/>
                </a:solidFill>
              </a:rPr>
              <a:t>W11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214360" y="1143000"/>
            <a:ext cx="47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5"/>
                </a:solidFill>
              </a:rPr>
              <a:t>W12</a:t>
            </a:r>
            <a:endParaRPr lang="en-US" sz="950" dirty="0"/>
          </a:p>
        </p:txBody>
      </p:sp>
      <p:sp>
        <p:nvSpPr>
          <p:cNvPr id="15" name="row bg 1"/>
          <p:cNvSpPr/>
          <p:nvPr/>
        </p:nvSpPr>
        <p:spPr>
          <a:xfrm>
            <a:off x="457200" y="1463040"/>
            <a:ext cx="82296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146304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Problem &amp; Background</a:t>
            </a:r>
            <a:endParaRPr lang="en-US" sz="1200" dirty="0"/>
          </a:p>
        </p:txBody>
      </p:sp>
      <p:sp>
        <p:nvSpPr>
          <p:cNvPr id="17" name="bar Problem &amp; Background"/>
          <p:cNvSpPr/>
          <p:nvPr/>
        </p:nvSpPr>
        <p:spPr>
          <a:xfrm>
            <a:off x="3044952" y="1545336"/>
            <a:ext cx="890016" cy="237744"/>
          </a:xfrm>
          <a:prstGeom prst="roundRect">
            <a:avLst>
              <a:gd name="adj" fmla="val 3076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186537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Requirement Analysis</a:t>
            </a:r>
            <a:endParaRPr lang="en-US" sz="1200" dirty="0"/>
          </a:p>
        </p:txBody>
      </p:sp>
      <p:sp>
        <p:nvSpPr>
          <p:cNvPr id="19" name="bar Requirement Analysis"/>
          <p:cNvSpPr/>
          <p:nvPr/>
        </p:nvSpPr>
        <p:spPr>
          <a:xfrm>
            <a:off x="3989832" y="1947672"/>
            <a:ext cx="890016" cy="237744"/>
          </a:xfrm>
          <a:prstGeom prst="roundRect">
            <a:avLst>
              <a:gd name="adj" fmla="val 3076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row bg 3"/>
          <p:cNvSpPr/>
          <p:nvPr/>
        </p:nvSpPr>
        <p:spPr>
          <a:xfrm>
            <a:off x="457200" y="2267712"/>
            <a:ext cx="82296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2677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System Design</a:t>
            </a:r>
            <a:endParaRPr lang="en-US" sz="1200" dirty="0"/>
          </a:p>
        </p:txBody>
      </p:sp>
      <p:sp>
        <p:nvSpPr>
          <p:cNvPr id="22" name="bar System Design"/>
          <p:cNvSpPr/>
          <p:nvPr/>
        </p:nvSpPr>
        <p:spPr>
          <a:xfrm>
            <a:off x="4934712" y="2350008"/>
            <a:ext cx="890016" cy="237744"/>
          </a:xfrm>
          <a:prstGeom prst="roundRect">
            <a:avLst>
              <a:gd name="adj" fmla="val 3076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26700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Hardware &amp; Core Dev</a:t>
            </a:r>
            <a:endParaRPr lang="en-US" sz="1200" dirty="0"/>
          </a:p>
        </p:txBody>
      </p:sp>
      <p:sp>
        <p:nvSpPr>
          <p:cNvPr id="24" name="bar Hardware &amp; Core Dev"/>
          <p:cNvSpPr/>
          <p:nvPr/>
        </p:nvSpPr>
        <p:spPr>
          <a:xfrm>
            <a:off x="5879592" y="2752344"/>
            <a:ext cx="890016" cy="237744"/>
          </a:xfrm>
          <a:prstGeom prst="roundRect">
            <a:avLst>
              <a:gd name="adj" fmla="val 3076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row bg 5"/>
          <p:cNvSpPr/>
          <p:nvPr/>
        </p:nvSpPr>
        <p:spPr>
          <a:xfrm>
            <a:off x="457200" y="3072384"/>
            <a:ext cx="82296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0723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AI Model Development</a:t>
            </a:r>
            <a:endParaRPr lang="en-US" sz="1200" dirty="0"/>
          </a:p>
        </p:txBody>
      </p:sp>
      <p:sp>
        <p:nvSpPr>
          <p:cNvPr id="27" name="bar AI Model Development"/>
          <p:cNvSpPr/>
          <p:nvPr/>
        </p:nvSpPr>
        <p:spPr>
          <a:xfrm>
            <a:off x="6824472" y="3154680"/>
            <a:ext cx="417576" cy="237744"/>
          </a:xfrm>
          <a:prstGeom prst="roundRect">
            <a:avLst>
              <a:gd name="adj" fmla="val 3076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4747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Dashboard &amp; Integration</a:t>
            </a:r>
            <a:endParaRPr lang="en-US" sz="1200" dirty="0"/>
          </a:p>
        </p:txBody>
      </p:sp>
      <p:sp>
        <p:nvSpPr>
          <p:cNvPr id="29" name="bar Dashboard &amp; Integration"/>
          <p:cNvSpPr/>
          <p:nvPr/>
        </p:nvSpPr>
        <p:spPr>
          <a:xfrm>
            <a:off x="7296912" y="3557016"/>
            <a:ext cx="417576" cy="237744"/>
          </a:xfrm>
          <a:prstGeom prst="roundRect">
            <a:avLst>
              <a:gd name="adj" fmla="val 3076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row bg 7"/>
          <p:cNvSpPr/>
          <p:nvPr/>
        </p:nvSpPr>
        <p:spPr>
          <a:xfrm>
            <a:off x="457200" y="3877056"/>
            <a:ext cx="8229600" cy="402336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387705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Testing</a:t>
            </a:r>
            <a:endParaRPr lang="en-US" sz="1200" dirty="0"/>
          </a:p>
        </p:txBody>
      </p:sp>
      <p:sp>
        <p:nvSpPr>
          <p:cNvPr id="32" name="bar Testing"/>
          <p:cNvSpPr/>
          <p:nvPr/>
        </p:nvSpPr>
        <p:spPr>
          <a:xfrm>
            <a:off x="7769352" y="3959352"/>
            <a:ext cx="417576" cy="237744"/>
          </a:xfrm>
          <a:prstGeom prst="roundRect">
            <a:avLst>
              <a:gd name="adj" fmla="val 3076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427939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Documentation &amp; Submission</a:t>
            </a:r>
            <a:endParaRPr lang="en-US" sz="1200" dirty="0"/>
          </a:p>
        </p:txBody>
      </p:sp>
      <p:sp>
        <p:nvSpPr>
          <p:cNvPr id="34" name="bar Documentation &amp; Submission"/>
          <p:cNvSpPr/>
          <p:nvPr/>
        </p:nvSpPr>
        <p:spPr>
          <a:xfrm>
            <a:off x="8241792" y="4361688"/>
            <a:ext cx="417576" cy="237744"/>
          </a:xfrm>
          <a:prstGeom prst="roundRect">
            <a:avLst>
              <a:gd name="adj" fmla="val 3076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Work Distribution</a:t>
            </a:r>
            <a:endParaRPr lang="en-US" sz="3200" dirty="0"/>
          </a:p>
        </p:txBody>
      </p:sp>
      <p:sp>
        <p:nvSpPr>
          <p:cNvPr id="3" name="work card 1"/>
          <p:cNvSpPr/>
          <p:nvPr/>
        </p:nvSpPr>
        <p:spPr>
          <a:xfrm>
            <a:off x="457200" y="1143000"/>
            <a:ext cx="39776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work avatar 1"/>
          <p:cNvSpPr/>
          <p:nvPr/>
        </p:nvSpPr>
        <p:spPr>
          <a:xfrm>
            <a:off x="68580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325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Md. Al Ruman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PRIMARY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Backend development (Node.js, database)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AI model development (prediction and anomaly detection)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Secondary: </a:t>
            </a:r>
            <a:r>
              <a:rPr lang="en-US" sz="1200" dirty="0">
                <a:solidFill>
                  <a:schemeClr val="tx1"/>
                </a:solidFill>
              </a:rPr>
              <a:t>Web dashboard &amp; documentation</a:t>
            </a:r>
            <a:endParaRPr lang="en-US" sz="1200" dirty="0"/>
          </a:p>
        </p:txBody>
      </p:sp>
      <p:sp>
        <p:nvSpPr>
          <p:cNvPr id="10" name="work card 2"/>
          <p:cNvSpPr/>
          <p:nvPr/>
        </p:nvSpPr>
        <p:spPr>
          <a:xfrm>
            <a:off x="4709160" y="1143000"/>
            <a:ext cx="397764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work avatar 2"/>
          <p:cNvSpPr/>
          <p:nvPr/>
        </p:nvSpPr>
        <p:spPr>
          <a:xfrm>
            <a:off x="493776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13258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S. M. Rafid Islam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205740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PRIMARY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Hardware &amp; sensor integration (ESP32, PIR, LDR, water level sensor, relay wiring)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MQTT communication setup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Secondary: </a:t>
            </a:r>
            <a:r>
              <a:rPr lang="en-US" sz="1200" dirty="0">
                <a:solidFill>
                  <a:schemeClr val="tx1"/>
                </a:solidFill>
              </a:rPr>
              <a:t>Testing &amp; prototype demonstration</a:t>
            </a:r>
            <a:endParaRPr lang="en-US" sz="1200" dirty="0"/>
          </a:p>
        </p:txBody>
      </p:sp>
      <p:sp>
        <p:nvSpPr>
          <p:cNvPr id="17" name="shared strip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red circle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shared icon" descr="sha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091940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280160" y="384048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Shared by both:  </a:t>
            </a:r>
            <a:r>
              <a:rPr lang="en-US" sz="1200" dirty="0">
                <a:solidFill>
                  <a:srgbClr val="FFFFFF"/>
                </a:solidFill>
              </a:rPr>
              <a:t>requirement analysis and system design (Use Case, DFD, ER diagram), integration testing, report writing and final presentation.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Budget Estimation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Cost (BDT)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ESP32 Microcontroller (x2)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Main controller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1,200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PIR Sensors (x3-4)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Occupancy detection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LDR Sensors (x3-4)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Daylight sensing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Water Level Sensor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Tank monitoring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700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Current / CT Sensor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Usage measurement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800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Relay Modules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Appliance switching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Temperature Sensor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Fan / AC control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Wiring, breadboard, misc.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Prototype assembly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Cloud hosting (basic tier)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Backend and database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1,500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Miscellaneous / contingency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Unexpected costs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05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budget total"/>
          <p:cNvSpPr/>
          <p:nvPr/>
        </p:nvSpPr>
        <p:spPr>
          <a:xfrm>
            <a:off x="6217920" y="1097280"/>
            <a:ext cx="2468880" cy="3383280"/>
          </a:xfrm>
          <a:prstGeom prst="roundRect">
            <a:avLst>
              <a:gd name="adj" fmla="val 29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0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ADCFC"/>
                </a:solidFill>
              </a:rPr>
              <a:t>TOTAL ESTIMATE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≈ 7,900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BDT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971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All software tools (Node.js, MySQL, Python, VS Code, GitHub) are open-source, so cost is mainly hardware prototyping and a small amount of hosting.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Risks &amp; Mitigation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Mitigation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Inaccurate sensor readings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Calibrate sensors; use filtering and hysteresis to avoid false actions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Limited AI accuracy (little real data)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Combine simulated and prototype data; treat AI output as recommendations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ESP32 to backend connectivity issues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Use MQTT with local buffering during disconnects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Hardware damage during testing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Test on low-voltage, safe setups; no direct mains installation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Time constraints in the semester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Follow the 12-week plan and build core features first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Over-reliance on automation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Manual override is always available</a:t>
                      </a:r>
                      <a:endParaRPr lang="en-US" sz="1200" dirty="0"/>
                    </a:p>
                  </a:txBody>
                  <a:tcPr marT="0" marB="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Expected Outcome &amp; Future Work</a:t>
            </a:r>
            <a:endParaRPr lang="en-US" sz="3200" dirty="0"/>
          </a:p>
        </p:txBody>
      </p:sp>
      <p:sp>
        <p:nvSpPr>
          <p:cNvPr id="3" name="outcome 1 circle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outcome 1 icon" descr="outcom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48740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188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Working prototype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463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Automatic control of lights, fans/AC and the water pump using real sensor data.</a:t>
            </a:r>
            <a:endParaRPr lang="en-US" sz="1200" dirty="0"/>
          </a:p>
        </p:txBody>
      </p:sp>
      <p:sp>
        <p:nvSpPr>
          <p:cNvPr id="7" name="outcome 2 circle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outcome 2 icon" descr="outcom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71700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AI component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Predicts electricity consumption and detects unusual usage.</a:t>
            </a:r>
            <a:endParaRPr lang="en-US" sz="1200" dirty="0"/>
          </a:p>
        </p:txBody>
      </p:sp>
      <p:sp>
        <p:nvSpPr>
          <p:cNvPr id="11" name="outcome 3 circle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outcome 3 icon" descr="outcom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9466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834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Web dashboard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Live and historical usage, alerts, suggestions and manual control.</a:t>
            </a:r>
            <a:endParaRPr lang="en-US" sz="1200" dirty="0"/>
          </a:p>
        </p:txBody>
      </p:sp>
      <p:sp>
        <p:nvSpPr>
          <p:cNvPr id="15" name="outcome 4 circle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outcome 4 icon" descr="outcom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762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2"/>
                </a:solidFill>
              </a:rPr>
              <a:t>Test results &amp; documentation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1097280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Energy-use comparison, design diagrams, source code and final report.</a:t>
            </a:r>
            <a:endParaRPr lang="en-US" sz="1200" dirty="0"/>
          </a:p>
        </p:txBody>
      </p:sp>
      <p:sp>
        <p:nvSpPr>
          <p:cNvPr id="19" name="future panel"/>
          <p:cNvSpPr/>
          <p:nvPr/>
        </p:nvSpPr>
        <p:spPr>
          <a:xfrm>
            <a:off x="5669280" y="1143000"/>
            <a:ext cx="3017520" cy="3383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594360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5943600" y="178308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AI-based security and life safety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Gas leakage monitoring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Rural and farm monitoring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Mobile app and smart platform integration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Larger-scale deployment and better AI models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conclusion card 1"/>
          <p:cNvSpPr/>
          <p:nvPr/>
        </p:nvSpPr>
        <p:spPr>
          <a:xfrm>
            <a:off x="457200" y="118872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14304F"/>
          </a:solidFill>
          <a:ln w="12700">
            <a:solidFill>
              <a:srgbClr val="14304F"/>
            </a:solidFill>
            <a:prstDash val="solid"/>
          </a:ln>
        </p:spPr>
      </p:sp>
      <p:sp>
        <p:nvSpPr>
          <p:cNvPr id="4" name="conclusion 1 circle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conclusion 1 icon" descr="conclusi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5659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Easier daily life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Combines home automation, energy monitoring and AI analysis to reduce manual work.</a:t>
            </a:r>
            <a:endParaRPr lang="en-US" sz="1200" dirty="0"/>
          </a:p>
        </p:txBody>
      </p:sp>
      <p:sp>
        <p:nvSpPr>
          <p:cNvPr id="8" name="conclusion card 2"/>
          <p:cNvSpPr/>
          <p:nvPr/>
        </p:nvSpPr>
        <p:spPr>
          <a:xfrm>
            <a:off x="3291840" y="118872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14304F"/>
          </a:solidFill>
          <a:ln w="12700">
            <a:solidFill>
              <a:srgbClr val="14304F"/>
            </a:solidFill>
            <a:prstDash val="solid"/>
          </a:ln>
        </p:spPr>
      </p:sp>
      <p:sp>
        <p:nvSpPr>
          <p:cNvPr id="9" name="conclusion 2 circle"/>
          <p:cNvSpPr/>
          <p:nvPr/>
        </p:nvSpPr>
        <p:spPr>
          <a:xfrm>
            <a:off x="3520440" y="14173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conclusion 2 icon" descr="conclusi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030" y="15659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Less waste, full control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Helps cut unnecessary electricity use while manual override stays available.</a:t>
            </a:r>
            <a:endParaRPr lang="en-US" sz="1200" dirty="0"/>
          </a:p>
        </p:txBody>
      </p:sp>
      <p:sp>
        <p:nvSpPr>
          <p:cNvPr id="13" name="conclusion card 3"/>
          <p:cNvSpPr/>
          <p:nvPr/>
        </p:nvSpPr>
        <p:spPr>
          <a:xfrm>
            <a:off x="6126480" y="118872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14304F"/>
          </a:solidFill>
          <a:ln w="12700">
            <a:solidFill>
              <a:srgbClr val="14304F"/>
            </a:solidFill>
            <a:prstDash val="solid"/>
          </a:ln>
        </p:spPr>
      </p:sp>
      <p:sp>
        <p:nvSpPr>
          <p:cNvPr id="14" name="conclusion 3 circle"/>
          <p:cNvSpPr/>
          <p:nvPr/>
        </p:nvSpPr>
        <p:spPr>
          <a:xfrm>
            <a:off x="6355080" y="14173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conclusion 3 icon" descr="conclusio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670" y="156591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Built for Bangladesh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Considers prepaid meters and load-shedding in energy information.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A strong foundation for a practical, student-level smart home prototype.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[1]  Abdullah-Al-Mahbub, M., et al. (2022). Different Forms of Solar Energy Progress: The Fast-Growing Eco-Friendly Energy Source in Bangladesh for a Sustainable Future. </a:t>
            </a:r>
            <a:r>
              <a:rPr lang="en-US" sz="1250" i="1" dirty="0">
                <a:solidFill>
                  <a:schemeClr val="tx1"/>
                </a:solidFill>
              </a:rPr>
              <a:t>Energies, 15(18), 6790.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[2]  Nasir, M., et al. (2019). Grid Load Reduction through Optimized PV Power Utilization in Intermittent Grids Using a Low-Cost Hardware Platform. </a:t>
            </a:r>
            <a:r>
              <a:rPr lang="en-US" sz="1250" i="1" dirty="0">
                <a:solidFill>
                  <a:schemeClr val="tx1"/>
                </a:solidFill>
              </a:rPr>
              <a:t>Energies, 12(9), 1764.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[3]  Mahjoub, S., et al. (2023). Short-Term Occupancy Forecasting for a Smart Home Using Optimized Weight Updates Based on GA and PSO Algorithms for an LSTM Network. </a:t>
            </a:r>
            <a:r>
              <a:rPr lang="en-US" sz="1250" i="1" dirty="0">
                <a:solidFill>
                  <a:schemeClr val="tx1"/>
                </a:solidFill>
              </a:rPr>
              <a:t>Energies, 16(4), 1641.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[4]  Demir, F., &amp; Sonmez, O. (2025). A Real-Time Water Level and Discharge Monitoring Station: A Case Study of the Sakarya River. </a:t>
            </a:r>
            <a:r>
              <a:rPr lang="en-US" sz="1250" i="1" dirty="0">
                <a:solidFill>
                  <a:schemeClr val="tx1"/>
                </a:solidFill>
              </a:rPr>
              <a:t>Applied Sciences, 15(4), 1910.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[5]  Kok, C. L., et al. (2024). A Novel Water Level Control System for Sustainable Aquarium Use. </a:t>
            </a:r>
            <a:r>
              <a:rPr lang="en-US" sz="1250" i="1" dirty="0">
                <a:solidFill>
                  <a:schemeClr val="tx1"/>
                </a:solidFill>
              </a:rPr>
              <a:t>Electronics, 13(11), 2033.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[6]  Sabit, H. (2025). Artificial Intelligence-Based Smart Security System Using Internet of Things for Smart Home Applications. </a:t>
            </a:r>
            <a:r>
              <a:rPr lang="en-US" sz="1250" i="1" dirty="0">
                <a:solidFill>
                  <a:schemeClr val="tx1"/>
                </a:solidFill>
              </a:rPr>
              <a:t>Electronics, 14(3), 608.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B7A8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 circle"/>
          <p:cNvSpPr/>
          <p:nvPr/>
        </p:nvSpPr>
        <p:spPr>
          <a:xfrm>
            <a:off x="6217920" y="640080"/>
            <a:ext cx="2926080" cy="2926080"/>
          </a:xfrm>
          <a:prstGeom prst="ellipse">
            <a:avLst/>
          </a:prstGeom>
          <a:solidFill>
            <a:schemeClr val="accent1">
              <a:alpha val="4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end home icon" descr="Hom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4173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Any questions?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83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Md. Al Ruman   ·   S. M. Rafid Islam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Home">
  <a:themeElements>
    <a:clrScheme name="SmartHome">
      <a:dk1>
        <a:srgbClr val="1B2430"/>
      </a:dk1>
      <a:lt1>
        <a:srgbClr val="FFFFFF"/>
      </a:lt1>
      <a:dk2>
        <a:srgbClr val="0B1F3A"/>
      </a:dk2>
      <a:lt2>
        <a:srgbClr val="EEF3F7"/>
      </a:lt2>
      <a:accent1>
        <a:srgbClr val="0E7C86"/>
      </a:accent1>
      <a:accent2>
        <a:srgbClr val="F5A524"/>
      </a:accent2>
      <a:accent3>
        <a:srgbClr val="1F5F8B"/>
      </a:accent3>
      <a:accent4>
        <a:srgbClr val="3FA796"/>
      </a:accent4>
      <a:accent5>
        <a:srgbClr val="6B7A8C"/>
      </a:accent5>
      <a:accent6>
        <a:srgbClr val="D95C4B"/>
      </a:accent6>
      <a:hlink>
        <a:srgbClr val="1F5F8B"/>
      </a:hlink>
      <a:folHlink>
        <a:srgbClr val="6B7A8C"/>
      </a:folHlink>
    </a:clrScheme>
    <a:fontScheme name="SmartHo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1736</Words>
  <Application>Microsoft Office PowerPoint</Application>
  <PresentationFormat>On-screen Show (16:9)</PresentationFormat>
  <Paragraphs>270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SmartHome</vt:lpstr>
      <vt:lpstr>PowerPoint Presentation</vt:lpstr>
      <vt:lpstr>Our Team</vt:lpstr>
      <vt:lpstr>Introduction</vt:lpstr>
      <vt:lpstr>Problem Statement</vt:lpstr>
      <vt:lpstr>How the System Works</vt:lpstr>
      <vt:lpstr>PowerPoint Presentation</vt:lpstr>
      <vt:lpstr>Core Modules: Automation</vt:lpstr>
      <vt:lpstr>Core Modules: Energy &amp; AI</vt:lpstr>
      <vt:lpstr>System Architecture</vt:lpstr>
      <vt:lpstr>PowerPoint Presentation</vt:lpstr>
      <vt:lpstr>Timeline: 12 Weeks</vt:lpstr>
      <vt:lpstr>Work Distribution</vt:lpstr>
      <vt:lpstr>Budget Estimation</vt:lpstr>
      <vt:lpstr>Risks &amp; Mitigation</vt:lpstr>
      <vt:lpstr>Expected Outcome &amp; Future Work</vt:lpstr>
      <vt:lpstr>Conclusion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 Automation and Energy Optimization System</dc:title>
  <dc:subject>PptxGenJS Presentation</dc:subject>
  <dc:creator>Md. Al Ruman, S. M. Rafid Islam</dc:creator>
  <cp:lastModifiedBy>Al Ruman</cp:lastModifiedBy>
  <cp:revision>2</cp:revision>
  <dcterms:created xsi:type="dcterms:W3CDTF">2026-10-03T06:25:55Z</dcterms:created>
  <dcterms:modified xsi:type="dcterms:W3CDTF">2026-10-03T06:29:25Z</dcterms:modified>
</cp:coreProperties>
</file>